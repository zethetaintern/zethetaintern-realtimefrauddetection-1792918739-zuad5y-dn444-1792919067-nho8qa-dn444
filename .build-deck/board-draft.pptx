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a2f7ebcca304d74" /><Relationship Type="http://schemas.openxmlformats.org/officeDocument/2006/relationships/extended-properties" Target="/docProps/app.xml" Id="R1a03483f29d244ea" /><Relationship Type="http://schemas.openxmlformats.org/officeDocument/2006/relationships/officeDocument" Target="/ppt/presentation.xml" Id="R4418dc24db14441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fef587446084071"/>
  </p:sldMasterIdLst>
  <p:notesMasterIdLst>
    <p:notesMasterId xmlns:r="http://schemas.openxmlformats.org/officeDocument/2006/relationships" r:id="Rb0d5a9150f65492d"/>
  </p:notesMasterIdLst>
  <p:sldIdLst>
    <p:sldId xmlns:r="http://schemas.openxmlformats.org/officeDocument/2006/relationships" id="256" r:id="R8a2573f9700d4282"/>
    <p:sldId xmlns:r="http://schemas.openxmlformats.org/officeDocument/2006/relationships" id="257" r:id="Rf5dffdb4eca34740"/>
    <p:sldId xmlns:r="http://schemas.openxmlformats.org/officeDocument/2006/relationships" id="258" r:id="R4e318ee402784614"/>
    <p:sldId xmlns:r="http://schemas.openxmlformats.org/officeDocument/2006/relationships" id="259" r:id="R4a73147fcfb948ee"/>
    <p:sldId xmlns:r="http://schemas.openxmlformats.org/officeDocument/2006/relationships" id="260" r:id="R6d6f17520c4f434d"/>
    <p:sldId xmlns:r="http://schemas.openxmlformats.org/officeDocument/2006/relationships" id="261" r:id="R7e9fa0be173349bc"/>
    <p:sldId xmlns:r="http://schemas.openxmlformats.org/officeDocument/2006/relationships" id="262" r:id="R6ea8fb6b751c4f36"/>
    <p:sldId xmlns:r="http://schemas.openxmlformats.org/officeDocument/2006/relationships" id="263" r:id="Rfc53ba614ebb419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bbdb5a51e7e4976" /><Relationship Type="http://schemas.openxmlformats.org/officeDocument/2006/relationships/slideMaster" Target="/ppt/slideMasters/slideMaster1.xml" Id="Rffef587446084071" /><Relationship Type="http://schemas.openxmlformats.org/officeDocument/2006/relationships/notesMaster" Target="/ppt/notesMasters/notesMaster1.xml" Id="Rb0d5a9150f65492d" /><Relationship Type="http://schemas.openxmlformats.org/officeDocument/2006/relationships/presProps" Target="/ppt/presProps.xml" Id="R2e8a7f78b5f148d5" /><Relationship Type="http://schemas.openxmlformats.org/officeDocument/2006/relationships/tableStyles" Target="/ppt/tableStyles.xml" Id="R191e883bf9a64a3d" /><Relationship Type="http://schemas.openxmlformats.org/officeDocument/2006/relationships/slide" Target="/ppt/slides/slide1.xml" Id="R8a2573f9700d4282" /><Relationship Type="http://schemas.openxmlformats.org/officeDocument/2006/relationships/slide" Target="/ppt/slides/slide2.xml" Id="Rf5dffdb4eca34740" /><Relationship Type="http://schemas.openxmlformats.org/officeDocument/2006/relationships/slide" Target="/ppt/slides/slide3.xml" Id="R4e318ee402784614" /><Relationship Type="http://schemas.openxmlformats.org/officeDocument/2006/relationships/slide" Target="/ppt/slides/slide4.xml" Id="R4a73147fcfb948ee" /><Relationship Type="http://schemas.openxmlformats.org/officeDocument/2006/relationships/slide" Target="/ppt/slides/slide5.xml" Id="R6d6f17520c4f434d" /><Relationship Type="http://schemas.openxmlformats.org/officeDocument/2006/relationships/slide" Target="/ppt/slides/slide6.xml" Id="R7e9fa0be173349bc" /><Relationship Type="http://schemas.openxmlformats.org/officeDocument/2006/relationships/slide" Target="/ppt/slides/slide7.xml" Id="R6ea8fb6b751c4f36" /><Relationship Type="http://schemas.openxmlformats.org/officeDocument/2006/relationships/slide" Target="/ppt/slides/slide8.xml" Id="Rfc53ba614ebb419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1ad1df457bf447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c74c067d0b14828" /><Relationship Type="http://schemas.openxmlformats.org/officeDocument/2006/relationships/notesMaster" Target="/ppt/notesMasters/notesMaster1.xml" Id="Rdac192a5310840c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ba3a38ce6b64cad" /><Relationship Type="http://schemas.openxmlformats.org/officeDocument/2006/relationships/notesMaster" Target="/ppt/notesMasters/notesMaster1.xml" Id="Re31072ac4c60467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16e9bdd655f4898" /><Relationship Type="http://schemas.openxmlformats.org/officeDocument/2006/relationships/notesMaster" Target="/ppt/notesMasters/notesMaster1.xml" Id="Rdc958c4b266a41d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4b31879e4254c9a" /><Relationship Type="http://schemas.openxmlformats.org/officeDocument/2006/relationships/notesMaster" Target="/ppt/notesMasters/notesMaster1.xml" Id="R4611c1fc580641c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6d4b812a4974475" /><Relationship Type="http://schemas.openxmlformats.org/officeDocument/2006/relationships/notesMaster" Target="/ppt/notesMasters/notesMaster1.xml" Id="R9a38ff329fe244e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d44578e50054af4" /><Relationship Type="http://schemas.openxmlformats.org/officeDocument/2006/relationships/notesMaster" Target="/ppt/notesMasters/notesMaster1.xml" Id="Rbc7671688b72469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e00029855814c33" /><Relationship Type="http://schemas.openxmlformats.org/officeDocument/2006/relationships/notesMaster" Target="/ppt/notesMasters/notesMaster1.xml" Id="R22dc73adece548b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1b9fd15176b4c9f" /><Relationship Type="http://schemas.openxmlformats.org/officeDocument/2006/relationships/notesMaster" Target="/ppt/notesMasters/notesMaster1.xml" Id="R5f71dd44684d45e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decision requested: approve a bounded pilot only after latency, fraud-outcome, security, and compliance gates are agreed.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figures are scenario inputs from the project brief, not independently measured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C4 source files for the complete system and container views. The simplified flow on this slide is editable and intentionally high-level.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rules remain the deterministic baseline; model and graph enrich the decision. Champion/challenger and drift monitoring are required before model promotion.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source brief contains both 100 ms and 200 ms references. The design assigns 100 ms to detection fan-out and 200 ms to the complete authorization path; these targets need load validation.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Fallback behavior must be explicit per channel and agreed with risk/compliance owners. Security and regulatory mapping in the repository is a design proposal pending formal review.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Move through shadow and canary stages only after evidence supports the next step. DR objectives and failover should be rehearsed, not assumed from documentation.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asking for approval of the bounded pilot and named owners for latency, fraud outcome, security, and compliance gates. The cost estimate is preliminary.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ed6cd523e54f2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53a092dc554a1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57430d2a8c450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b412637334499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4da43f7ee8470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8a524288dd4e2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49EB29B-28A9-4418-97B5-76E0D17AF1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964887F-EFB5-45C6-9915-2F88A20D65C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2DAE05F-2101-4DD5-8CE9-DBA2A6671CF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DF361C9-C768-4615-BC99-13CB5D750CE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7149680-2252-4666-B24C-596148B9969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1A87AB1-C30E-4B5C-BF9B-3CDE4785598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3CA4A72-232B-4005-9251-CECF2539429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830053C-E3EE-4EC0-8C79-A143A847726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2AD66B7-1946-4D6D-94C1-4C8BE731D6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42EBBA0-5712-4EEC-B64C-5E4048CB99F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31c0f3a416a44ed" /><Relationship Type="http://schemas.openxmlformats.org/officeDocument/2006/relationships/slideLayout" Target="/ppt/slideLayouts/slideLayout1.xml" Id="Ra33758472b0b45c0" /><Relationship Type="http://schemas.openxmlformats.org/officeDocument/2006/relationships/slideLayout" Target="/ppt/slideLayouts/slideLayout2.xml" Id="R1aab7c93bbf84057" /><Relationship Type="http://schemas.openxmlformats.org/officeDocument/2006/relationships/slideLayout" Target="/ppt/slideLayouts/slideLayout3.xml" Id="Rcf381bbc8e6e4a27" /><Relationship Type="http://schemas.openxmlformats.org/officeDocument/2006/relationships/slideLayout" Target="/ppt/slideLayouts/slideLayout4.xml" Id="Rd6a3935dc7574afc" /><Relationship Type="http://schemas.openxmlformats.org/officeDocument/2006/relationships/slideLayout" Target="/ppt/slideLayouts/slideLayout5.xml" Id="Re0a282d4a7f4470b" /><Relationship Type="http://schemas.openxmlformats.org/officeDocument/2006/relationships/slideLayout" Target="/ppt/slideLayouts/slideLayout6.xml" Id="R896e82ca3be8408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33758472b0b45c0"/>
    <p:sldLayoutId xmlns:r="http://schemas.openxmlformats.org/officeDocument/2006/relationships" id="2147483650" r:id="R1aab7c93bbf84057"/>
    <p:sldLayoutId xmlns:r="http://schemas.openxmlformats.org/officeDocument/2006/relationships" id="2147483651" r:id="Rcf381bbc8e6e4a27"/>
    <p:sldLayoutId xmlns:r="http://schemas.openxmlformats.org/officeDocument/2006/relationships" id="2147483652" r:id="Rd6a3935dc7574afc"/>
    <p:sldLayoutId xmlns:r="http://schemas.openxmlformats.org/officeDocument/2006/relationships" id="2147483653" r:id="Re0a282d4a7f4470b"/>
    <p:sldLayoutId xmlns:r="http://schemas.openxmlformats.org/officeDocument/2006/relationships" id="2147483654" r:id="R896e82ca3be8408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177b6e1c6e42bb" /><Relationship Type="http://schemas.openxmlformats.org/officeDocument/2006/relationships/notesSlide" Target="/ppt/notesSlides/notesSlide1.xml" Id="R89e2ff04d37b4d9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d25560e9b0463c" /><Relationship Type="http://schemas.openxmlformats.org/officeDocument/2006/relationships/notesSlide" Target="/ppt/notesSlides/notesSlide2.xml" Id="Rfd4f5cb752154bb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4c18c524664915" /><Relationship Type="http://schemas.openxmlformats.org/officeDocument/2006/relationships/notesSlide" Target="/ppt/notesSlides/notesSlide3.xml" Id="R06ecd0c3d1dd4c3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639f7179814fa8" /><Relationship Type="http://schemas.openxmlformats.org/officeDocument/2006/relationships/notesSlide" Target="/ppt/notesSlides/notesSlide4.xml" Id="R8a64de8c01394f8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f902982b704a5e" /><Relationship Type="http://schemas.openxmlformats.org/officeDocument/2006/relationships/notesSlide" Target="/ppt/notesSlides/notesSlide5.xml" Id="R9e4e9f17f9aa4fb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1e4c6a78814c46" /><Relationship Type="http://schemas.openxmlformats.org/officeDocument/2006/relationships/notesSlide" Target="/ppt/notesSlides/notesSlide6.xml" Id="R2d287396d8d54cc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61159a010e4cfa" /><Relationship Type="http://schemas.openxmlformats.org/officeDocument/2006/relationships/notesSlide" Target="/ppt/notesSlides/notesSlide7.xml" Id="R10aac62b0bf340a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1024c4bd754513" /><Relationship Type="http://schemas.openxmlformats.org/officeDocument/2006/relationships/notesSlide" Target="/ppt/notesSlides/notesSlide8.xml" Id="R0ac27946b9a84a0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24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4D89C6-3CB9-4AE3-A300-3C9E5AC8D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672411-6709-4530-8A28-84F5EAA76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2390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73D3D1"/>
                </a:solidFill>
                <a:latin typeface="Aptos"/>
                <a:ea typeface="Aptos"/>
                <a:cs typeface="Aptos"/>
              </a:defRPr>
            </a:defPPr>
            <a:lvl1pPr>
              <a:defRPr sz="1125" b="1">
                <a:solidFill>
                  <a:srgbClr val="73D3D1"/>
                </a:solidFill>
                <a:latin typeface="Aptos"/>
                <a:ea typeface="Aptos"/>
                <a:cs typeface="Aptos"/>
              </a:defRPr>
            </a:lvl1pPr>
            <a:lvl2pPr>
              <a:defRPr sz="1125" b="1">
                <a:solidFill>
                  <a:srgbClr val="73D3D1"/>
                </a:solidFill>
                <a:latin typeface="Aptos"/>
                <a:ea typeface="Aptos"/>
                <a:cs typeface="Aptos"/>
              </a:defRPr>
            </a:lvl2pPr>
            <a:lvl3pPr>
              <a:defRPr sz="1125" b="1">
                <a:solidFill>
                  <a:srgbClr val="73D3D1"/>
                </a:solidFill>
                <a:latin typeface="Aptos"/>
                <a:ea typeface="Aptos"/>
                <a:cs typeface="Aptos"/>
              </a:defRPr>
            </a:lvl3pPr>
            <a:lvl4pPr>
              <a:defRPr sz="1125" b="1">
                <a:solidFill>
                  <a:srgbClr val="73D3D1"/>
                </a:solidFill>
                <a:latin typeface="Aptos"/>
                <a:ea typeface="Aptos"/>
                <a:cs typeface="Aptos"/>
              </a:defRPr>
            </a:lvl4pPr>
            <a:lvl5pPr>
              <a:defRPr sz="1125" b="1">
                <a:solidFill>
                  <a:srgbClr val="73D3D1"/>
                </a:solidFill>
                <a:latin typeface="Aptos"/>
                <a:ea typeface="Aptos"/>
                <a:cs typeface="Aptos"/>
              </a:defRPr>
            </a:lvl5pPr>
            <a:lvl6pPr>
              <a:defRPr sz="1125" b="1">
                <a:solidFill>
                  <a:srgbClr val="73D3D1"/>
                </a:solidFill>
                <a:latin typeface="Aptos"/>
                <a:ea typeface="Aptos"/>
                <a:cs typeface="Aptos"/>
              </a:defRPr>
            </a:lvl6pPr>
            <a:lvl7pPr>
              <a:defRPr sz="1125" b="1">
                <a:solidFill>
                  <a:srgbClr val="73D3D1"/>
                </a:solidFill>
                <a:latin typeface="Aptos"/>
                <a:ea typeface="Aptos"/>
                <a:cs typeface="Aptos"/>
              </a:defRPr>
            </a:lvl7pPr>
            <a:lvl8pPr>
              <a:defRPr sz="1125" b="1">
                <a:solidFill>
                  <a:srgbClr val="73D3D1"/>
                </a:solidFill>
                <a:latin typeface="Aptos"/>
                <a:ea typeface="Aptos"/>
                <a:cs typeface="Aptos"/>
              </a:defRPr>
            </a:lvl8pPr>
            <a:lvl9pPr>
              <a:defRPr sz="1125" b="1">
                <a:solidFill>
                  <a:srgbClr val="73D3D1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73D3D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3D3D1"/>
                </a:solidFill>
                <a:latin typeface="Aptos"/>
                <a:ea typeface="Aptos"/>
                <a:cs typeface="Aptos"/>
              </a:rPr>
              <a:t>SHIELDPAY  |  RISK &amp; TECHNOLOGY BOARD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467301-7203-46D5-B4C7-C50E262B6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6572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54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>
              <a:defRPr sz="54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>
              <a:defRPr sz="54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>
              <a:defRPr sz="54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>
              <a:defRPr sz="54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>
              <a:defRPr sz="54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>
              <a:defRPr sz="54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>
              <a:defRPr sz="54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>
              <a:defRPr sz="54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>
              <a:defRPr sz="54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54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Aegis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FD817D-4959-4A56-B1FC-E61E0F9DB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24125"/>
            <a:ext cx="819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7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>
              <a:defRPr sz="27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>
              <a:defRPr sz="27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>
              <a:defRPr sz="27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>
              <a:defRPr sz="27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>
              <a:defRPr sz="27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>
              <a:defRPr sz="27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>
              <a:defRPr sz="27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>
              <a:defRPr sz="27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>
              <a:defRPr sz="27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7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Real-Time Fraud Detection Platform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EEC9DC-1E33-429E-90BB-6583A2664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09950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725" b="0">
                <a:solidFill>
                  <a:srgbClr val="B8C8D4"/>
                </a:solidFill>
                <a:latin typeface="Aptos"/>
                <a:ea typeface="Aptos"/>
                <a:cs typeface="Aptos"/>
              </a:defRPr>
            </a:defPPr>
            <a:lvl1pPr>
              <a:defRPr sz="1725" b="0">
                <a:solidFill>
                  <a:srgbClr val="B8C8D4"/>
                </a:solidFill>
                <a:latin typeface="Aptos"/>
                <a:ea typeface="Aptos"/>
                <a:cs typeface="Aptos"/>
              </a:defRPr>
            </a:lvl1pPr>
            <a:lvl2pPr>
              <a:defRPr sz="1725" b="0">
                <a:solidFill>
                  <a:srgbClr val="B8C8D4"/>
                </a:solidFill>
                <a:latin typeface="Aptos"/>
                <a:ea typeface="Aptos"/>
                <a:cs typeface="Aptos"/>
              </a:defRPr>
            </a:lvl2pPr>
            <a:lvl3pPr>
              <a:defRPr sz="1725" b="0">
                <a:solidFill>
                  <a:srgbClr val="B8C8D4"/>
                </a:solidFill>
                <a:latin typeface="Aptos"/>
                <a:ea typeface="Aptos"/>
                <a:cs typeface="Aptos"/>
              </a:defRPr>
            </a:lvl3pPr>
            <a:lvl4pPr>
              <a:defRPr sz="1725" b="0">
                <a:solidFill>
                  <a:srgbClr val="B8C8D4"/>
                </a:solidFill>
                <a:latin typeface="Aptos"/>
                <a:ea typeface="Aptos"/>
                <a:cs typeface="Aptos"/>
              </a:defRPr>
            </a:lvl4pPr>
            <a:lvl5pPr>
              <a:defRPr sz="1725" b="0">
                <a:solidFill>
                  <a:srgbClr val="B8C8D4"/>
                </a:solidFill>
                <a:latin typeface="Aptos"/>
                <a:ea typeface="Aptos"/>
                <a:cs typeface="Aptos"/>
              </a:defRPr>
            </a:lvl5pPr>
            <a:lvl6pPr>
              <a:defRPr sz="1725" b="0">
                <a:solidFill>
                  <a:srgbClr val="B8C8D4"/>
                </a:solidFill>
                <a:latin typeface="Aptos"/>
                <a:ea typeface="Aptos"/>
                <a:cs typeface="Aptos"/>
              </a:defRPr>
            </a:lvl6pPr>
            <a:lvl7pPr>
              <a:defRPr sz="1725" b="0">
                <a:solidFill>
                  <a:srgbClr val="B8C8D4"/>
                </a:solidFill>
                <a:latin typeface="Aptos"/>
                <a:ea typeface="Aptos"/>
                <a:cs typeface="Aptos"/>
              </a:defRPr>
            </a:lvl7pPr>
            <a:lvl8pPr>
              <a:defRPr sz="1725" b="0">
                <a:solidFill>
                  <a:srgbClr val="B8C8D4"/>
                </a:solidFill>
                <a:latin typeface="Aptos"/>
                <a:ea typeface="Aptos"/>
                <a:cs typeface="Aptos"/>
              </a:defRPr>
            </a:lvl8pPr>
            <a:lvl9pPr>
              <a:defRPr sz="1725" b="0">
                <a:solidFill>
                  <a:srgbClr val="B8C8D4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B8C8D4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B8C8D4"/>
                </a:solidFill>
                <a:latin typeface="Aptos"/>
                <a:ea typeface="Aptos"/>
                <a:cs typeface="Aptos"/>
              </a:rPr>
              <a:t>A 15-minute architecture proposal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EE4E1E-1F20-4F91-90EE-957575D69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33850"/>
            <a:ext cx="1047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5392BD-4E75-4F04-BAA4-12CEA69AE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95800"/>
            <a:ext cx="857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Decision focus: approve a gated pilot, subject to evidence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41C1E5-026E-4D56-8214-079870E2E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38850"/>
            <a:ext cx="857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050" b="0">
                <a:solidFill>
                  <a:srgbClr val="B8C8D4"/>
                </a:solidFill>
                <a:latin typeface="Aptos"/>
                <a:ea typeface="Aptos"/>
                <a:cs typeface="Aptos"/>
              </a:defRPr>
            </a:defPPr>
            <a:lvl1pPr>
              <a:defRPr sz="1050" b="0">
                <a:solidFill>
                  <a:srgbClr val="B8C8D4"/>
                </a:solidFill>
                <a:latin typeface="Aptos"/>
                <a:ea typeface="Aptos"/>
                <a:cs typeface="Aptos"/>
              </a:defRPr>
            </a:lvl1pPr>
            <a:lvl2pPr>
              <a:defRPr sz="1050" b="0">
                <a:solidFill>
                  <a:srgbClr val="B8C8D4"/>
                </a:solidFill>
                <a:latin typeface="Aptos"/>
                <a:ea typeface="Aptos"/>
                <a:cs typeface="Aptos"/>
              </a:defRPr>
            </a:lvl2pPr>
            <a:lvl3pPr>
              <a:defRPr sz="1050" b="0">
                <a:solidFill>
                  <a:srgbClr val="B8C8D4"/>
                </a:solidFill>
                <a:latin typeface="Aptos"/>
                <a:ea typeface="Aptos"/>
                <a:cs typeface="Aptos"/>
              </a:defRPr>
            </a:lvl3pPr>
            <a:lvl4pPr>
              <a:defRPr sz="1050" b="0">
                <a:solidFill>
                  <a:srgbClr val="B8C8D4"/>
                </a:solidFill>
                <a:latin typeface="Aptos"/>
                <a:ea typeface="Aptos"/>
                <a:cs typeface="Aptos"/>
              </a:defRPr>
            </a:lvl4pPr>
            <a:lvl5pPr>
              <a:defRPr sz="1050" b="0">
                <a:solidFill>
                  <a:srgbClr val="B8C8D4"/>
                </a:solidFill>
                <a:latin typeface="Aptos"/>
                <a:ea typeface="Aptos"/>
                <a:cs typeface="Aptos"/>
              </a:defRPr>
            </a:lvl5pPr>
            <a:lvl6pPr>
              <a:defRPr sz="1050" b="0">
                <a:solidFill>
                  <a:srgbClr val="B8C8D4"/>
                </a:solidFill>
                <a:latin typeface="Aptos"/>
                <a:ea typeface="Aptos"/>
                <a:cs typeface="Aptos"/>
              </a:defRPr>
            </a:lvl6pPr>
            <a:lvl7pPr>
              <a:defRPr sz="1050" b="0">
                <a:solidFill>
                  <a:srgbClr val="B8C8D4"/>
                </a:solidFill>
                <a:latin typeface="Aptos"/>
                <a:ea typeface="Aptos"/>
                <a:cs typeface="Aptos"/>
              </a:defRPr>
            </a:lvl7pPr>
            <a:lvl8pPr>
              <a:defRPr sz="1050" b="0">
                <a:solidFill>
                  <a:srgbClr val="B8C8D4"/>
                </a:solidFill>
                <a:latin typeface="Aptos"/>
                <a:ea typeface="Aptos"/>
                <a:cs typeface="Aptos"/>
              </a:defRPr>
            </a:lvl8pPr>
            <a:lvl9pPr>
              <a:defRPr sz="1050" b="0">
                <a:solidFill>
                  <a:srgbClr val="B8C8D4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B8C8D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B8C8D4"/>
                </a:solidFill>
                <a:latin typeface="Aptos"/>
                <a:ea typeface="Aptos"/>
                <a:cs typeface="Aptos"/>
              </a:rPr>
              <a:t>Project 463549C  •  15-minute review</a:t>
            </a:r>
          </a:p>
        </p:txBody>
      </p:sp>
    </p:spTree>
    <p:extLst>
      <p:ext uri="{BB962C8B-B14F-4D97-AF65-F5344CB8AC3E}">
        <p14:creationId xmlns:p14="http://schemas.microsoft.com/office/powerpoint/2010/main" val="3726460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207011-C666-474F-8978-7219E3C66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C0DB3C-B5E0-4F14-BB52-96907B21E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defPPr>
            <a:lvl1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1pPr>
            <a:lvl2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2pPr>
            <a:lvl3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3pPr>
            <a:lvl4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4pPr>
            <a:lvl5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5pPr>
            <a:lvl6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6pPr>
            <a:lvl7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7pPr>
            <a:lvl8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8pPr>
            <a:lvl9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8C95"/>
                </a:solidFill>
                <a:latin typeface="Aptos"/>
                <a:ea typeface="Aptos"/>
                <a:cs typeface="Aptos"/>
              </a:rPr>
              <a:t>AEGIS | RISK &amp; TECHNOLOGY BOARD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A10B01-8337-4701-A8D2-DA35FD7E4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defPPr>
            <a:lvl1pPr>
              <a:defRPr sz="27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1pPr>
            <a:lvl2pPr>
              <a:defRPr sz="27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2pPr>
            <a:lvl3pPr>
              <a:defRPr sz="27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3pPr>
            <a:lvl4pPr>
              <a:defRPr sz="27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4pPr>
            <a:lvl5pPr>
              <a:defRPr sz="27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5pPr>
            <a:lvl6pPr>
              <a:defRPr sz="27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6pPr>
            <a:lvl7pPr>
              <a:defRPr sz="27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7pPr>
            <a:lvl8pPr>
              <a:defRPr sz="27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8pPr>
            <a:lvl9pPr>
              <a:defRPr sz="27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2243A"/>
                </a:solidFill>
                <a:latin typeface="Aptos"/>
                <a:ea typeface="Aptos"/>
                <a:cs typeface="Aptos"/>
              </a:rPr>
              <a:t>The current scoring gap raises loss and control risk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EFA485-6FE0-4D98-A038-EF4857213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38875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6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8B035E-13AE-4A0E-8942-9E8395232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817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9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defPPr>
            <a:lvl1pPr>
              <a:defRPr sz="9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1pPr>
            <a:lvl2pPr>
              <a:defRPr sz="9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2pPr>
            <a:lvl3pPr>
              <a:defRPr sz="9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3pPr>
            <a:lvl4pPr>
              <a:defRPr sz="9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4pPr>
            <a:lvl5pPr>
              <a:defRPr sz="9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5pPr>
            <a:lvl6pPr>
              <a:defRPr sz="9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6pPr>
            <a:lvl7pPr>
              <a:defRPr sz="9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7pPr>
            <a:lvl8pPr>
              <a:defRPr sz="9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8pPr>
            <a:lvl9pPr>
              <a:defRPr sz="9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77A"/>
                </a:solidFill>
                <a:latin typeface="Aptos"/>
                <a:ea typeface="Aptos"/>
                <a:cs typeface="Aptos"/>
              </a:rPr>
              <a:t>SHIELDPAY  •  ARCHITECTURE PROPOSAL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61BA57-F546-4D84-AB9E-71FBC7817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defPPr>
            <a:lvl1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1pPr>
            <a:lvl2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2pPr>
            <a:lvl3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3pPr>
            <a:lvl4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4pPr>
            <a:lvl5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5pPr>
            <a:lvl6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6pPr>
            <a:lvl7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7pPr>
            <a:lvl8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8pPr>
            <a:lvl9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8C95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A4149E-0E48-4BE1-B73D-2048218DC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050" b="1">
                <a:solidFill>
                  <a:srgbClr val="52677A"/>
                </a:solidFill>
                <a:latin typeface="Aptos"/>
                <a:ea typeface="Aptos"/>
                <a:cs typeface="Aptos"/>
              </a:defRPr>
            </a:defPPr>
            <a:lvl1pPr>
              <a:defRPr sz="1050" b="1">
                <a:solidFill>
                  <a:srgbClr val="52677A"/>
                </a:solidFill>
                <a:latin typeface="Aptos"/>
                <a:ea typeface="Aptos"/>
                <a:cs typeface="Aptos"/>
              </a:defRPr>
            </a:lvl1pPr>
            <a:lvl2pPr>
              <a:defRPr sz="1050" b="1">
                <a:solidFill>
                  <a:srgbClr val="52677A"/>
                </a:solidFill>
                <a:latin typeface="Aptos"/>
                <a:ea typeface="Aptos"/>
                <a:cs typeface="Aptos"/>
              </a:defRPr>
            </a:lvl2pPr>
            <a:lvl3pPr>
              <a:defRPr sz="1050" b="1">
                <a:solidFill>
                  <a:srgbClr val="52677A"/>
                </a:solidFill>
                <a:latin typeface="Aptos"/>
                <a:ea typeface="Aptos"/>
                <a:cs typeface="Aptos"/>
              </a:defRPr>
            </a:lvl3pPr>
            <a:lvl4pPr>
              <a:defRPr sz="1050" b="1">
                <a:solidFill>
                  <a:srgbClr val="52677A"/>
                </a:solidFill>
                <a:latin typeface="Aptos"/>
                <a:ea typeface="Aptos"/>
                <a:cs typeface="Aptos"/>
              </a:defRPr>
            </a:lvl4pPr>
            <a:lvl5pPr>
              <a:defRPr sz="1050" b="1">
                <a:solidFill>
                  <a:srgbClr val="52677A"/>
                </a:solidFill>
                <a:latin typeface="Aptos"/>
                <a:ea typeface="Aptos"/>
                <a:cs typeface="Aptos"/>
              </a:defRPr>
            </a:lvl5pPr>
            <a:lvl6pPr>
              <a:defRPr sz="1050" b="1">
                <a:solidFill>
                  <a:srgbClr val="52677A"/>
                </a:solidFill>
                <a:latin typeface="Aptos"/>
                <a:ea typeface="Aptos"/>
                <a:cs typeface="Aptos"/>
              </a:defRPr>
            </a:lvl6pPr>
            <a:lvl7pPr>
              <a:defRPr sz="1050" b="1">
                <a:solidFill>
                  <a:srgbClr val="52677A"/>
                </a:solidFill>
                <a:latin typeface="Aptos"/>
                <a:ea typeface="Aptos"/>
                <a:cs typeface="Aptos"/>
              </a:defRPr>
            </a:lvl7pPr>
            <a:lvl8pPr>
              <a:defRPr sz="1050" b="1">
                <a:solidFill>
                  <a:srgbClr val="52677A"/>
                </a:solidFill>
                <a:latin typeface="Aptos"/>
                <a:ea typeface="Aptos"/>
                <a:cs typeface="Aptos"/>
              </a:defRPr>
            </a:lvl8pPr>
            <a:lvl9pPr>
              <a:defRPr sz="1050" b="1">
                <a:solidFill>
                  <a:srgbClr val="52677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52677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2677A"/>
                </a:solidFill>
                <a:latin typeface="Aptos"/>
                <a:ea typeface="Aptos"/>
                <a:cs typeface="Aptos"/>
              </a:rPr>
              <a:t>BRIEF BASELINE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9D69D4-B8E9-45C2-92C9-2CB1B232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435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defPPr>
            <a:lvl1pPr>
              <a:defRPr sz="435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1pPr>
            <a:lvl2pPr>
              <a:defRPr sz="435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2pPr>
            <a:lvl3pPr>
              <a:defRPr sz="435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3pPr>
            <a:lvl4pPr>
              <a:defRPr sz="435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4pPr>
            <a:lvl5pPr>
              <a:defRPr sz="435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5pPr>
            <a:lvl6pPr>
              <a:defRPr sz="435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6pPr>
            <a:lvl7pPr>
              <a:defRPr sz="435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7pPr>
            <a:lvl8pPr>
              <a:defRPr sz="435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8pPr>
            <a:lvl9pPr>
              <a:defRPr sz="435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435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12243A"/>
                </a:solidFill>
                <a:latin typeface="Aptos"/>
                <a:ea typeface="Aptos"/>
                <a:cs typeface="Aptos"/>
              </a:rPr>
              <a:t>2.4M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8FE23B-66B0-4878-BD82-AA09D9D23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5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defPPr>
            <a:lvl1pPr>
              <a:defRPr sz="15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1pPr>
            <a:lvl2pPr>
              <a:defRPr sz="15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2pPr>
            <a:lvl3pPr>
              <a:defRPr sz="15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3pPr>
            <a:lvl4pPr>
              <a:defRPr sz="15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4pPr>
            <a:lvl5pPr>
              <a:defRPr sz="15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5pPr>
            <a:lvl6pPr>
              <a:defRPr sz="15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6pPr>
            <a:lvl7pPr>
              <a:defRPr sz="15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7pPr>
            <a:lvl8pPr>
              <a:defRPr sz="15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8pPr>
            <a:lvl9pPr>
              <a:defRPr sz="15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2677A"/>
                </a:solidFill>
                <a:latin typeface="Aptos"/>
                <a:ea typeface="Aptos"/>
                <a:cs typeface="Aptos"/>
              </a:rPr>
              <a:t>transactions per day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3197A3-CD78-4BF1-9A24-8C8DC5436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3835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4350" b="1">
                <a:solidFill>
                  <a:srgbClr val="D88928"/>
                </a:solidFill>
                <a:latin typeface="Aptos"/>
                <a:ea typeface="Aptos"/>
                <a:cs typeface="Aptos"/>
              </a:defRPr>
            </a:defPPr>
            <a:lvl1pPr>
              <a:defRPr sz="4350" b="1">
                <a:solidFill>
                  <a:srgbClr val="D88928"/>
                </a:solidFill>
                <a:latin typeface="Aptos"/>
                <a:ea typeface="Aptos"/>
                <a:cs typeface="Aptos"/>
              </a:defRPr>
            </a:lvl1pPr>
            <a:lvl2pPr>
              <a:defRPr sz="4350" b="1">
                <a:solidFill>
                  <a:srgbClr val="D88928"/>
                </a:solidFill>
                <a:latin typeface="Aptos"/>
                <a:ea typeface="Aptos"/>
                <a:cs typeface="Aptos"/>
              </a:defRPr>
            </a:lvl2pPr>
            <a:lvl3pPr>
              <a:defRPr sz="4350" b="1">
                <a:solidFill>
                  <a:srgbClr val="D88928"/>
                </a:solidFill>
                <a:latin typeface="Aptos"/>
                <a:ea typeface="Aptos"/>
                <a:cs typeface="Aptos"/>
              </a:defRPr>
            </a:lvl3pPr>
            <a:lvl4pPr>
              <a:defRPr sz="4350" b="1">
                <a:solidFill>
                  <a:srgbClr val="D88928"/>
                </a:solidFill>
                <a:latin typeface="Aptos"/>
                <a:ea typeface="Aptos"/>
                <a:cs typeface="Aptos"/>
              </a:defRPr>
            </a:lvl4pPr>
            <a:lvl5pPr>
              <a:defRPr sz="4350" b="1">
                <a:solidFill>
                  <a:srgbClr val="D88928"/>
                </a:solidFill>
                <a:latin typeface="Aptos"/>
                <a:ea typeface="Aptos"/>
                <a:cs typeface="Aptos"/>
              </a:defRPr>
            </a:lvl5pPr>
            <a:lvl6pPr>
              <a:defRPr sz="4350" b="1">
                <a:solidFill>
                  <a:srgbClr val="D88928"/>
                </a:solidFill>
                <a:latin typeface="Aptos"/>
                <a:ea typeface="Aptos"/>
                <a:cs typeface="Aptos"/>
              </a:defRPr>
            </a:lvl6pPr>
            <a:lvl7pPr>
              <a:defRPr sz="4350" b="1">
                <a:solidFill>
                  <a:srgbClr val="D88928"/>
                </a:solidFill>
                <a:latin typeface="Aptos"/>
                <a:ea typeface="Aptos"/>
                <a:cs typeface="Aptos"/>
              </a:defRPr>
            </a:lvl7pPr>
            <a:lvl8pPr>
              <a:defRPr sz="4350" b="1">
                <a:solidFill>
                  <a:srgbClr val="D88928"/>
                </a:solidFill>
                <a:latin typeface="Aptos"/>
                <a:ea typeface="Aptos"/>
                <a:cs typeface="Aptos"/>
              </a:defRPr>
            </a:lvl8pPr>
            <a:lvl9pPr>
              <a:defRPr sz="4350" b="1">
                <a:solidFill>
                  <a:srgbClr val="D8892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4350" b="1">
                <a:solidFill>
                  <a:srgbClr val="D88928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D88928"/>
                </a:solidFill>
                <a:latin typeface="Aptos"/>
                <a:ea typeface="Aptos"/>
                <a:cs typeface="Aptos"/>
              </a:rPr>
              <a:t>+340%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2D4668-2942-46FC-8AC9-E8B9DF433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7241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5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defPPr>
            <a:lvl1pPr>
              <a:defRPr sz="15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1pPr>
            <a:lvl2pPr>
              <a:defRPr sz="15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2pPr>
            <a:lvl3pPr>
              <a:defRPr sz="15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3pPr>
            <a:lvl4pPr>
              <a:defRPr sz="15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4pPr>
            <a:lvl5pPr>
              <a:defRPr sz="15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5pPr>
            <a:lvl6pPr>
              <a:defRPr sz="15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6pPr>
            <a:lvl7pPr>
              <a:defRPr sz="15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7pPr>
            <a:lvl8pPr>
              <a:defRPr sz="15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8pPr>
            <a:lvl9pPr>
              <a:defRPr sz="15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2677A"/>
                </a:solidFill>
                <a:latin typeface="Aptos"/>
                <a:ea typeface="Aptos"/>
                <a:cs typeface="Aptos"/>
              </a:rPr>
              <a:t>fraud attempts in Q3 2025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D0A348-8803-432C-8007-5F3F9A66B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38350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3600" b="1">
                <a:solidFill>
                  <a:srgbClr val="B94A48"/>
                </a:solidFill>
                <a:latin typeface="Aptos"/>
                <a:ea typeface="Aptos"/>
                <a:cs typeface="Aptos"/>
              </a:defRPr>
            </a:defPPr>
            <a:lvl1pPr>
              <a:defRPr sz="3600" b="1">
                <a:solidFill>
                  <a:srgbClr val="B94A48"/>
                </a:solidFill>
                <a:latin typeface="Aptos"/>
                <a:ea typeface="Aptos"/>
                <a:cs typeface="Aptos"/>
              </a:defRPr>
            </a:lvl1pPr>
            <a:lvl2pPr>
              <a:defRPr sz="3600" b="1">
                <a:solidFill>
                  <a:srgbClr val="B94A48"/>
                </a:solidFill>
                <a:latin typeface="Aptos"/>
                <a:ea typeface="Aptos"/>
                <a:cs typeface="Aptos"/>
              </a:defRPr>
            </a:lvl2pPr>
            <a:lvl3pPr>
              <a:defRPr sz="3600" b="1">
                <a:solidFill>
                  <a:srgbClr val="B94A48"/>
                </a:solidFill>
                <a:latin typeface="Aptos"/>
                <a:ea typeface="Aptos"/>
                <a:cs typeface="Aptos"/>
              </a:defRPr>
            </a:lvl3pPr>
            <a:lvl4pPr>
              <a:defRPr sz="3600" b="1">
                <a:solidFill>
                  <a:srgbClr val="B94A48"/>
                </a:solidFill>
                <a:latin typeface="Aptos"/>
                <a:ea typeface="Aptos"/>
                <a:cs typeface="Aptos"/>
              </a:defRPr>
            </a:lvl4pPr>
            <a:lvl5pPr>
              <a:defRPr sz="3600" b="1">
                <a:solidFill>
                  <a:srgbClr val="B94A48"/>
                </a:solidFill>
                <a:latin typeface="Aptos"/>
                <a:ea typeface="Aptos"/>
                <a:cs typeface="Aptos"/>
              </a:defRPr>
            </a:lvl5pPr>
            <a:lvl6pPr>
              <a:defRPr sz="3600" b="1">
                <a:solidFill>
                  <a:srgbClr val="B94A48"/>
                </a:solidFill>
                <a:latin typeface="Aptos"/>
                <a:ea typeface="Aptos"/>
                <a:cs typeface="Aptos"/>
              </a:defRPr>
            </a:lvl6pPr>
            <a:lvl7pPr>
              <a:defRPr sz="3600" b="1">
                <a:solidFill>
                  <a:srgbClr val="B94A48"/>
                </a:solidFill>
                <a:latin typeface="Aptos"/>
                <a:ea typeface="Aptos"/>
                <a:cs typeface="Aptos"/>
              </a:defRPr>
            </a:lvl7pPr>
            <a:lvl8pPr>
              <a:defRPr sz="3600" b="1">
                <a:solidFill>
                  <a:srgbClr val="B94A48"/>
                </a:solidFill>
                <a:latin typeface="Aptos"/>
                <a:ea typeface="Aptos"/>
                <a:cs typeface="Aptos"/>
              </a:defRPr>
            </a:lvl8pPr>
            <a:lvl9pPr>
              <a:defRPr sz="3600" b="1">
                <a:solidFill>
                  <a:srgbClr val="B94A4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B94A48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B94A48"/>
                </a:solidFill>
                <a:latin typeface="Aptos"/>
                <a:ea typeface="Aptos"/>
                <a:cs typeface="Aptos"/>
              </a:rPr>
              <a:t>₹12 → ₹53 cr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69772D-25C2-471D-9E8E-866A9C327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241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5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defPPr>
            <a:lvl1pPr>
              <a:defRPr sz="15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1pPr>
            <a:lvl2pPr>
              <a:defRPr sz="15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2pPr>
            <a:lvl3pPr>
              <a:defRPr sz="15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3pPr>
            <a:lvl4pPr>
              <a:defRPr sz="15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4pPr>
            <a:lvl5pPr>
              <a:defRPr sz="15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5pPr>
            <a:lvl6pPr>
              <a:defRPr sz="15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6pPr>
            <a:lvl7pPr>
              <a:defRPr sz="15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7pPr>
            <a:lvl8pPr>
              <a:defRPr sz="15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8pPr>
            <a:lvl9pPr>
              <a:defRPr sz="15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2677A"/>
                </a:solidFill>
                <a:latin typeface="Aptos"/>
                <a:ea typeface="Aptos"/>
                <a:cs typeface="Aptos"/>
              </a:rPr>
              <a:t>quarterly fraud losses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577169-6859-4C12-BB44-B55216E99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10839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6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EB82CC-3038-49CF-B21B-250F4896D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8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defPPr>
            <a:lvl1pPr>
              <a:defRPr sz="18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1pPr>
            <a:lvl2pPr>
              <a:defRPr sz="18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2pPr>
            <a:lvl3pPr>
              <a:defRPr sz="18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3pPr>
            <a:lvl4pPr>
              <a:defRPr sz="18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4pPr>
            <a:lvl5pPr>
              <a:defRPr sz="18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5pPr>
            <a:lvl6pPr>
              <a:defRPr sz="18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6pPr>
            <a:lvl7pPr>
              <a:defRPr sz="18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7pPr>
            <a:lvl8pPr>
              <a:defRPr sz="18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8pPr>
            <a:lvl9pPr>
              <a:defRPr sz="18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2243A"/>
                </a:solidFill>
                <a:latin typeface="Aptos"/>
                <a:ea typeface="Aptos"/>
                <a:cs typeface="Aptos"/>
              </a:rPr>
              <a:t>15-minute batch scoring gap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C48428-798D-418D-A002-52950F293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1000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725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defPPr>
            <a:lvl1pPr>
              <a:defRPr sz="1725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1pPr>
            <a:lvl2pPr>
              <a:defRPr sz="1725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2pPr>
            <a:lvl3pPr>
              <a:defRPr sz="1725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3pPr>
            <a:lvl4pPr>
              <a:defRPr sz="1725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4pPr>
            <a:lvl5pPr>
              <a:defRPr sz="1725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5pPr>
            <a:lvl6pPr>
              <a:defRPr sz="1725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6pPr>
            <a:lvl7pPr>
              <a:defRPr sz="1725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7pPr>
            <a:lvl8pPr>
              <a:defRPr sz="1725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8pPr>
            <a:lvl9pPr>
              <a:defRPr sz="1725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72B3A"/>
                </a:solidFill>
                <a:latin typeface="Aptos"/>
                <a:ea typeface="Aptos"/>
                <a:cs typeface="Aptos"/>
              </a:rPr>
              <a:t>Fraud signals can arrive and act before the next scheduled score. The proposal moves risk checks into the authorization path.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98B446-2F2D-4D50-B57F-73289CDBF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2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defPPr>
            <a:lvl1pPr>
              <a:defRPr sz="12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1pPr>
            <a:lvl2pPr>
              <a:defRPr sz="12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2pPr>
            <a:lvl3pPr>
              <a:defRPr sz="12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3pPr>
            <a:lvl4pPr>
              <a:defRPr sz="12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4pPr>
            <a:lvl5pPr>
              <a:defRPr sz="12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5pPr>
            <a:lvl6pPr>
              <a:defRPr sz="12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6pPr>
            <a:lvl7pPr>
              <a:defRPr sz="12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7pPr>
            <a:lvl8pPr>
              <a:defRPr sz="12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8pPr>
            <a:lvl9pPr>
              <a:defRPr sz="12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08C95"/>
                </a:solidFill>
                <a:latin typeface="Aptos"/>
                <a:ea typeface="Aptos"/>
                <a:cs typeface="Aptos"/>
              </a:rPr>
              <a:t>Targets in the brief: &gt;95% detection  •  &lt;0.5% false positives</a:t>
            </a:r>
          </a:p>
        </p:txBody>
      </p:sp>
    </p:spTree>
    <p:extLst>
      <p:ext uri="{BB962C8B-B14F-4D97-AF65-F5344CB8AC3E}">
        <p14:creationId xmlns:p14="http://schemas.microsoft.com/office/powerpoint/2010/main" val="19640752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BA572F9-F8E6-4060-BE1F-42E5BAD78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CAB79D-D3D6-449C-97E2-A3AA4D365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defPPr>
            <a:lvl1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1pPr>
            <a:lvl2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2pPr>
            <a:lvl3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3pPr>
            <a:lvl4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4pPr>
            <a:lvl5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5pPr>
            <a:lvl6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6pPr>
            <a:lvl7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7pPr>
            <a:lvl8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8pPr>
            <a:lvl9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8C95"/>
                </a:solidFill>
                <a:latin typeface="Aptos"/>
                <a:ea typeface="Aptos"/>
                <a:cs typeface="Aptos"/>
              </a:rPr>
              <a:t>AEGIS | RISK &amp; TECHNOLOGY BOARD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BD592D-0186-4DF3-9C73-F2DEC19D9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defPPr>
            <a:lvl1pPr>
              <a:defRPr sz="27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1pPr>
            <a:lvl2pPr>
              <a:defRPr sz="27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2pPr>
            <a:lvl3pPr>
              <a:defRPr sz="27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3pPr>
            <a:lvl4pPr>
              <a:defRPr sz="27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4pPr>
            <a:lvl5pPr>
              <a:defRPr sz="27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5pPr>
            <a:lvl6pPr>
              <a:defRPr sz="27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6pPr>
            <a:lvl7pPr>
              <a:defRPr sz="27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7pPr>
            <a:lvl8pPr>
              <a:defRPr sz="27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8pPr>
            <a:lvl9pPr>
              <a:defRPr sz="27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2243A"/>
                </a:solidFill>
                <a:latin typeface="Aptos"/>
                <a:ea typeface="Aptos"/>
                <a:cs typeface="Aptos"/>
              </a:rPr>
              <a:t>Aegis separates decisioning, data ownership, and failure domains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F0E742-57C7-45E9-ACDE-B0D62422B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38875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6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1A0F46-FA3F-4BDC-B3DB-0033D4BBC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817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9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defPPr>
            <a:lvl1pPr>
              <a:defRPr sz="9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1pPr>
            <a:lvl2pPr>
              <a:defRPr sz="9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2pPr>
            <a:lvl3pPr>
              <a:defRPr sz="9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3pPr>
            <a:lvl4pPr>
              <a:defRPr sz="9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4pPr>
            <a:lvl5pPr>
              <a:defRPr sz="9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5pPr>
            <a:lvl6pPr>
              <a:defRPr sz="9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6pPr>
            <a:lvl7pPr>
              <a:defRPr sz="9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7pPr>
            <a:lvl8pPr>
              <a:defRPr sz="9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8pPr>
            <a:lvl9pPr>
              <a:defRPr sz="9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77A"/>
                </a:solidFill>
                <a:latin typeface="Aptos"/>
                <a:ea typeface="Aptos"/>
                <a:cs typeface="Aptos"/>
              </a:rPr>
              <a:t>SHIELDPAY  •  ARCHITECTURE PROPOSAL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DB191E-54DC-4AFD-AAA8-7FFEB8F45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defPPr>
            <a:lvl1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1pPr>
            <a:lvl2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2pPr>
            <a:lvl3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3pPr>
            <a:lvl4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4pPr>
            <a:lvl5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5pPr>
            <a:lvl6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6pPr>
            <a:lvl7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7pPr>
            <a:lvl8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8pPr>
            <a:lvl9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8C95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120CD9-23F5-4AD9-87EE-18C465329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24100"/>
            <a:ext cx="18669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7CAC8C-3777-46D4-A0B2-98CF0141D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24100"/>
            <a:ext cx="1866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3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87605B-2C96-4982-9C20-8C37D84E8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590800"/>
            <a:ext cx="1600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2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defPPr>
            <a:lvl1pPr>
              <a:defRPr sz="12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1pPr>
            <a:lvl2pPr>
              <a:defRPr sz="12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2pPr>
            <a:lvl3pPr>
              <a:defRPr sz="12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3pPr>
            <a:lvl4pPr>
              <a:defRPr sz="12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4pPr>
            <a:lvl5pPr>
              <a:defRPr sz="12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5pPr>
            <a:lvl6pPr>
              <a:defRPr sz="12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6pPr>
            <a:lvl7pPr>
              <a:defRPr sz="12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7pPr>
            <a:lvl8pPr>
              <a:defRPr sz="12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8pPr>
            <a:lvl9pPr>
              <a:defRPr sz="12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08C95"/>
                </a:solidFill>
                <a:latin typeface="Aptos"/>
                <a:ea typeface="Aptos"/>
                <a:cs typeface="Aptos"/>
              </a:rPr>
              <a:t>INGEST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C2441D-53F6-4E4A-A27E-72690D104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009900"/>
            <a:ext cx="1600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275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defPPr>
            <a:lvl1pPr>
              <a:defRPr sz="1275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1pPr>
            <a:lvl2pPr>
              <a:defRPr sz="1275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2pPr>
            <a:lvl3pPr>
              <a:defRPr sz="1275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3pPr>
            <a:lvl4pPr>
              <a:defRPr sz="1275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4pPr>
            <a:lvl5pPr>
              <a:defRPr sz="1275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5pPr>
            <a:lvl6pPr>
              <a:defRPr sz="1275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6pPr>
            <a:lvl7pPr>
              <a:defRPr sz="1275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7pPr>
            <a:lvl8pPr>
              <a:defRPr sz="1275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8pPr>
            <a:lvl9pPr>
              <a:defRPr sz="1275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B3A"/>
                </a:solidFill>
                <a:latin typeface="Aptos"/>
                <a:ea typeface="Aptos"/>
                <a:cs typeface="Aptos"/>
              </a:rPr>
              <a:t>Normalize • tokenize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4D8E14-F6B5-4157-8111-537F9FAA8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771775"/>
            <a:ext cx="361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025" b="1">
                <a:solidFill>
                  <a:srgbClr val="52677A"/>
                </a:solidFill>
                <a:latin typeface="Aptos"/>
                <a:ea typeface="Aptos"/>
                <a:cs typeface="Aptos"/>
              </a:defRPr>
            </a:defPPr>
            <a:lvl1pPr>
              <a:defRPr sz="2025" b="1">
                <a:solidFill>
                  <a:srgbClr val="52677A"/>
                </a:solidFill>
                <a:latin typeface="Aptos"/>
                <a:ea typeface="Aptos"/>
                <a:cs typeface="Aptos"/>
              </a:defRPr>
            </a:lvl1pPr>
            <a:lvl2pPr>
              <a:defRPr sz="2025" b="1">
                <a:solidFill>
                  <a:srgbClr val="52677A"/>
                </a:solidFill>
                <a:latin typeface="Aptos"/>
                <a:ea typeface="Aptos"/>
                <a:cs typeface="Aptos"/>
              </a:defRPr>
            </a:lvl2pPr>
            <a:lvl3pPr>
              <a:defRPr sz="2025" b="1">
                <a:solidFill>
                  <a:srgbClr val="52677A"/>
                </a:solidFill>
                <a:latin typeface="Aptos"/>
                <a:ea typeface="Aptos"/>
                <a:cs typeface="Aptos"/>
              </a:defRPr>
            </a:lvl3pPr>
            <a:lvl4pPr>
              <a:defRPr sz="2025" b="1">
                <a:solidFill>
                  <a:srgbClr val="52677A"/>
                </a:solidFill>
                <a:latin typeface="Aptos"/>
                <a:ea typeface="Aptos"/>
                <a:cs typeface="Aptos"/>
              </a:defRPr>
            </a:lvl4pPr>
            <a:lvl5pPr>
              <a:defRPr sz="2025" b="1">
                <a:solidFill>
                  <a:srgbClr val="52677A"/>
                </a:solidFill>
                <a:latin typeface="Aptos"/>
                <a:ea typeface="Aptos"/>
                <a:cs typeface="Aptos"/>
              </a:defRPr>
            </a:lvl5pPr>
            <a:lvl6pPr>
              <a:defRPr sz="2025" b="1">
                <a:solidFill>
                  <a:srgbClr val="52677A"/>
                </a:solidFill>
                <a:latin typeface="Aptos"/>
                <a:ea typeface="Aptos"/>
                <a:cs typeface="Aptos"/>
              </a:defRPr>
            </a:lvl6pPr>
            <a:lvl7pPr>
              <a:defRPr sz="2025" b="1">
                <a:solidFill>
                  <a:srgbClr val="52677A"/>
                </a:solidFill>
                <a:latin typeface="Aptos"/>
                <a:ea typeface="Aptos"/>
                <a:cs typeface="Aptos"/>
              </a:defRPr>
            </a:lvl7pPr>
            <a:lvl8pPr>
              <a:defRPr sz="2025" b="1">
                <a:solidFill>
                  <a:srgbClr val="52677A"/>
                </a:solidFill>
                <a:latin typeface="Aptos"/>
                <a:ea typeface="Aptos"/>
                <a:cs typeface="Aptos"/>
              </a:defRPr>
            </a:lvl8pPr>
            <a:lvl9pPr>
              <a:defRPr sz="2025" b="1">
                <a:solidFill>
                  <a:srgbClr val="52677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52677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52677A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354E45-F0E5-48A0-AB15-79025940C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324100"/>
            <a:ext cx="18669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26AA67-068F-44E7-8963-DAE4F84BC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324100"/>
            <a:ext cx="1866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3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C06D49-94D1-4807-A2B3-9D8516368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590800"/>
            <a:ext cx="1600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2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defPPr>
            <a:lvl1pPr>
              <a:defRPr sz="12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1pPr>
            <a:lvl2pPr>
              <a:defRPr sz="12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2pPr>
            <a:lvl3pPr>
              <a:defRPr sz="12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3pPr>
            <a:lvl4pPr>
              <a:defRPr sz="12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4pPr>
            <a:lvl5pPr>
              <a:defRPr sz="12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5pPr>
            <a:lvl6pPr>
              <a:defRPr sz="12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6pPr>
            <a:lvl7pPr>
              <a:defRPr sz="12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7pPr>
            <a:lvl8pPr>
              <a:defRPr sz="12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8pPr>
            <a:lvl9pPr>
              <a:defRPr sz="12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08C95"/>
                </a:solidFill>
                <a:latin typeface="Aptos"/>
                <a:ea typeface="Aptos"/>
                <a:cs typeface="Aptos"/>
              </a:rPr>
              <a:t>ENRICH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D71EF5-D9E6-4CA6-9F39-5184139F5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009900"/>
            <a:ext cx="1600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275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defPPr>
            <a:lvl1pPr>
              <a:defRPr sz="1275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1pPr>
            <a:lvl2pPr>
              <a:defRPr sz="1275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2pPr>
            <a:lvl3pPr>
              <a:defRPr sz="1275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3pPr>
            <a:lvl4pPr>
              <a:defRPr sz="1275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4pPr>
            <a:lvl5pPr>
              <a:defRPr sz="1275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5pPr>
            <a:lvl6pPr>
              <a:defRPr sz="1275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6pPr>
            <a:lvl7pPr>
              <a:defRPr sz="1275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7pPr>
            <a:lvl8pPr>
              <a:defRPr sz="1275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8pPr>
            <a:lvl9pPr>
              <a:defRPr sz="1275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B3A"/>
                </a:solidFill>
                <a:latin typeface="Aptos"/>
                <a:ea typeface="Aptos"/>
                <a:cs typeface="Aptos"/>
              </a:rPr>
              <a:t>Profile • device • geo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2EF101-9A5C-45C9-BBCF-FE0FFAB5B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71775"/>
            <a:ext cx="361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025" b="1">
                <a:solidFill>
                  <a:srgbClr val="52677A"/>
                </a:solidFill>
                <a:latin typeface="Aptos"/>
                <a:ea typeface="Aptos"/>
                <a:cs typeface="Aptos"/>
              </a:defRPr>
            </a:defPPr>
            <a:lvl1pPr>
              <a:defRPr sz="2025" b="1">
                <a:solidFill>
                  <a:srgbClr val="52677A"/>
                </a:solidFill>
                <a:latin typeface="Aptos"/>
                <a:ea typeface="Aptos"/>
                <a:cs typeface="Aptos"/>
              </a:defRPr>
            </a:lvl1pPr>
            <a:lvl2pPr>
              <a:defRPr sz="2025" b="1">
                <a:solidFill>
                  <a:srgbClr val="52677A"/>
                </a:solidFill>
                <a:latin typeface="Aptos"/>
                <a:ea typeface="Aptos"/>
                <a:cs typeface="Aptos"/>
              </a:defRPr>
            </a:lvl2pPr>
            <a:lvl3pPr>
              <a:defRPr sz="2025" b="1">
                <a:solidFill>
                  <a:srgbClr val="52677A"/>
                </a:solidFill>
                <a:latin typeface="Aptos"/>
                <a:ea typeface="Aptos"/>
                <a:cs typeface="Aptos"/>
              </a:defRPr>
            </a:lvl3pPr>
            <a:lvl4pPr>
              <a:defRPr sz="2025" b="1">
                <a:solidFill>
                  <a:srgbClr val="52677A"/>
                </a:solidFill>
                <a:latin typeface="Aptos"/>
                <a:ea typeface="Aptos"/>
                <a:cs typeface="Aptos"/>
              </a:defRPr>
            </a:lvl4pPr>
            <a:lvl5pPr>
              <a:defRPr sz="2025" b="1">
                <a:solidFill>
                  <a:srgbClr val="52677A"/>
                </a:solidFill>
                <a:latin typeface="Aptos"/>
                <a:ea typeface="Aptos"/>
                <a:cs typeface="Aptos"/>
              </a:defRPr>
            </a:lvl5pPr>
            <a:lvl6pPr>
              <a:defRPr sz="2025" b="1">
                <a:solidFill>
                  <a:srgbClr val="52677A"/>
                </a:solidFill>
                <a:latin typeface="Aptos"/>
                <a:ea typeface="Aptos"/>
                <a:cs typeface="Aptos"/>
              </a:defRPr>
            </a:lvl6pPr>
            <a:lvl7pPr>
              <a:defRPr sz="2025" b="1">
                <a:solidFill>
                  <a:srgbClr val="52677A"/>
                </a:solidFill>
                <a:latin typeface="Aptos"/>
                <a:ea typeface="Aptos"/>
                <a:cs typeface="Aptos"/>
              </a:defRPr>
            </a:lvl7pPr>
            <a:lvl8pPr>
              <a:defRPr sz="2025" b="1">
                <a:solidFill>
                  <a:srgbClr val="52677A"/>
                </a:solidFill>
                <a:latin typeface="Aptos"/>
                <a:ea typeface="Aptos"/>
                <a:cs typeface="Aptos"/>
              </a:defRPr>
            </a:lvl8pPr>
            <a:lvl9pPr>
              <a:defRPr sz="2025" b="1">
                <a:solidFill>
                  <a:srgbClr val="52677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52677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52677A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F1968A-41A1-4463-A14D-AAD2E8C91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2324100"/>
            <a:ext cx="18669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3AD4A8-3678-45BE-8B00-182AE9AA1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2324100"/>
            <a:ext cx="1866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13DB77-E33B-42E7-9031-A25CE2837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2590800"/>
            <a:ext cx="1600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2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defPPr>
            <a:lvl1pPr>
              <a:defRPr sz="12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1pPr>
            <a:lvl2pPr>
              <a:defRPr sz="12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2pPr>
            <a:lvl3pPr>
              <a:defRPr sz="12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3pPr>
            <a:lvl4pPr>
              <a:defRPr sz="12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4pPr>
            <a:lvl5pPr>
              <a:defRPr sz="12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5pPr>
            <a:lvl6pPr>
              <a:defRPr sz="12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6pPr>
            <a:lvl7pPr>
              <a:defRPr sz="12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7pPr>
            <a:lvl8pPr>
              <a:defRPr sz="12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8pPr>
            <a:lvl9pPr>
              <a:defRPr sz="12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08C95"/>
                </a:solidFill>
                <a:latin typeface="Aptos"/>
                <a:ea typeface="Aptos"/>
                <a:cs typeface="Aptos"/>
              </a:rPr>
              <a:t>DETECT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661360-4212-4334-B092-A93FB1489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3009900"/>
            <a:ext cx="1600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275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defPPr>
            <a:lvl1pPr>
              <a:defRPr sz="1275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1pPr>
            <a:lvl2pPr>
              <a:defRPr sz="1275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2pPr>
            <a:lvl3pPr>
              <a:defRPr sz="1275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3pPr>
            <a:lvl4pPr>
              <a:defRPr sz="1275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4pPr>
            <a:lvl5pPr>
              <a:defRPr sz="1275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5pPr>
            <a:lvl6pPr>
              <a:defRPr sz="1275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6pPr>
            <a:lvl7pPr>
              <a:defRPr sz="1275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7pPr>
            <a:lvl8pPr>
              <a:defRPr sz="1275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8pPr>
            <a:lvl9pPr>
              <a:defRPr sz="1275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B3A"/>
                </a:solidFill>
                <a:latin typeface="Aptos"/>
                <a:ea typeface="Aptos"/>
                <a:cs typeface="Aptos"/>
              </a:rPr>
              <a:t>Rules • ML • graph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14D9A4-6F91-4B6B-8443-152215EF7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771775"/>
            <a:ext cx="361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025" b="1">
                <a:solidFill>
                  <a:srgbClr val="52677A"/>
                </a:solidFill>
                <a:latin typeface="Aptos"/>
                <a:ea typeface="Aptos"/>
                <a:cs typeface="Aptos"/>
              </a:defRPr>
            </a:defPPr>
            <a:lvl1pPr>
              <a:defRPr sz="2025" b="1">
                <a:solidFill>
                  <a:srgbClr val="52677A"/>
                </a:solidFill>
                <a:latin typeface="Aptos"/>
                <a:ea typeface="Aptos"/>
                <a:cs typeface="Aptos"/>
              </a:defRPr>
            </a:lvl1pPr>
            <a:lvl2pPr>
              <a:defRPr sz="2025" b="1">
                <a:solidFill>
                  <a:srgbClr val="52677A"/>
                </a:solidFill>
                <a:latin typeface="Aptos"/>
                <a:ea typeface="Aptos"/>
                <a:cs typeface="Aptos"/>
              </a:defRPr>
            </a:lvl2pPr>
            <a:lvl3pPr>
              <a:defRPr sz="2025" b="1">
                <a:solidFill>
                  <a:srgbClr val="52677A"/>
                </a:solidFill>
                <a:latin typeface="Aptos"/>
                <a:ea typeface="Aptos"/>
                <a:cs typeface="Aptos"/>
              </a:defRPr>
            </a:lvl3pPr>
            <a:lvl4pPr>
              <a:defRPr sz="2025" b="1">
                <a:solidFill>
                  <a:srgbClr val="52677A"/>
                </a:solidFill>
                <a:latin typeface="Aptos"/>
                <a:ea typeface="Aptos"/>
                <a:cs typeface="Aptos"/>
              </a:defRPr>
            </a:lvl4pPr>
            <a:lvl5pPr>
              <a:defRPr sz="2025" b="1">
                <a:solidFill>
                  <a:srgbClr val="52677A"/>
                </a:solidFill>
                <a:latin typeface="Aptos"/>
                <a:ea typeface="Aptos"/>
                <a:cs typeface="Aptos"/>
              </a:defRPr>
            </a:lvl5pPr>
            <a:lvl6pPr>
              <a:defRPr sz="2025" b="1">
                <a:solidFill>
                  <a:srgbClr val="52677A"/>
                </a:solidFill>
                <a:latin typeface="Aptos"/>
                <a:ea typeface="Aptos"/>
                <a:cs typeface="Aptos"/>
              </a:defRPr>
            </a:lvl6pPr>
            <a:lvl7pPr>
              <a:defRPr sz="2025" b="1">
                <a:solidFill>
                  <a:srgbClr val="52677A"/>
                </a:solidFill>
                <a:latin typeface="Aptos"/>
                <a:ea typeface="Aptos"/>
                <a:cs typeface="Aptos"/>
              </a:defRPr>
            </a:lvl7pPr>
            <a:lvl8pPr>
              <a:defRPr sz="2025" b="1">
                <a:solidFill>
                  <a:srgbClr val="52677A"/>
                </a:solidFill>
                <a:latin typeface="Aptos"/>
                <a:ea typeface="Aptos"/>
                <a:cs typeface="Aptos"/>
              </a:defRPr>
            </a:lvl8pPr>
            <a:lvl9pPr>
              <a:defRPr sz="2025" b="1">
                <a:solidFill>
                  <a:srgbClr val="52677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52677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52677A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8B84D4-8DE4-49F7-947A-0E19F5579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324100"/>
            <a:ext cx="18669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46B658-F24C-40DC-85A5-E953802F8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324100"/>
            <a:ext cx="1866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3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9FD2D1-521D-49CE-8D6C-FD7454F35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2590800"/>
            <a:ext cx="1600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2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defPPr>
            <a:lvl1pPr>
              <a:defRPr sz="12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1pPr>
            <a:lvl2pPr>
              <a:defRPr sz="12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2pPr>
            <a:lvl3pPr>
              <a:defRPr sz="12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3pPr>
            <a:lvl4pPr>
              <a:defRPr sz="12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4pPr>
            <a:lvl5pPr>
              <a:defRPr sz="12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5pPr>
            <a:lvl6pPr>
              <a:defRPr sz="12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6pPr>
            <a:lvl7pPr>
              <a:defRPr sz="12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7pPr>
            <a:lvl8pPr>
              <a:defRPr sz="12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8pPr>
            <a:lvl9pPr>
              <a:defRPr sz="12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08C95"/>
                </a:solidFill>
                <a:latin typeface="Aptos"/>
                <a:ea typeface="Aptos"/>
                <a:cs typeface="Aptos"/>
              </a:rPr>
              <a:t>DECIDE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79EA074-B671-445D-9C32-B267E7666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3009900"/>
            <a:ext cx="1600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275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defPPr>
            <a:lvl1pPr>
              <a:defRPr sz="1275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1pPr>
            <a:lvl2pPr>
              <a:defRPr sz="1275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2pPr>
            <a:lvl3pPr>
              <a:defRPr sz="1275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3pPr>
            <a:lvl4pPr>
              <a:defRPr sz="1275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4pPr>
            <a:lvl5pPr>
              <a:defRPr sz="1275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5pPr>
            <a:lvl6pPr>
              <a:defRPr sz="1275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6pPr>
            <a:lvl7pPr>
              <a:defRPr sz="1275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7pPr>
            <a:lvl8pPr>
              <a:defRPr sz="1275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8pPr>
            <a:lvl9pPr>
              <a:defRPr sz="1275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B3A"/>
                </a:solidFill>
                <a:latin typeface="Aptos"/>
                <a:ea typeface="Aptos"/>
                <a:cs typeface="Aptos"/>
              </a:rPr>
              <a:t>Score • explain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0205A8-3966-4C45-A05D-5F260EA7B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771775"/>
            <a:ext cx="361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025" b="1">
                <a:solidFill>
                  <a:srgbClr val="52677A"/>
                </a:solidFill>
                <a:latin typeface="Aptos"/>
                <a:ea typeface="Aptos"/>
                <a:cs typeface="Aptos"/>
              </a:defRPr>
            </a:defPPr>
            <a:lvl1pPr>
              <a:defRPr sz="2025" b="1">
                <a:solidFill>
                  <a:srgbClr val="52677A"/>
                </a:solidFill>
                <a:latin typeface="Aptos"/>
                <a:ea typeface="Aptos"/>
                <a:cs typeface="Aptos"/>
              </a:defRPr>
            </a:lvl1pPr>
            <a:lvl2pPr>
              <a:defRPr sz="2025" b="1">
                <a:solidFill>
                  <a:srgbClr val="52677A"/>
                </a:solidFill>
                <a:latin typeface="Aptos"/>
                <a:ea typeface="Aptos"/>
                <a:cs typeface="Aptos"/>
              </a:defRPr>
            </a:lvl2pPr>
            <a:lvl3pPr>
              <a:defRPr sz="2025" b="1">
                <a:solidFill>
                  <a:srgbClr val="52677A"/>
                </a:solidFill>
                <a:latin typeface="Aptos"/>
                <a:ea typeface="Aptos"/>
                <a:cs typeface="Aptos"/>
              </a:defRPr>
            </a:lvl3pPr>
            <a:lvl4pPr>
              <a:defRPr sz="2025" b="1">
                <a:solidFill>
                  <a:srgbClr val="52677A"/>
                </a:solidFill>
                <a:latin typeface="Aptos"/>
                <a:ea typeface="Aptos"/>
                <a:cs typeface="Aptos"/>
              </a:defRPr>
            </a:lvl4pPr>
            <a:lvl5pPr>
              <a:defRPr sz="2025" b="1">
                <a:solidFill>
                  <a:srgbClr val="52677A"/>
                </a:solidFill>
                <a:latin typeface="Aptos"/>
                <a:ea typeface="Aptos"/>
                <a:cs typeface="Aptos"/>
              </a:defRPr>
            </a:lvl5pPr>
            <a:lvl6pPr>
              <a:defRPr sz="2025" b="1">
                <a:solidFill>
                  <a:srgbClr val="52677A"/>
                </a:solidFill>
                <a:latin typeface="Aptos"/>
                <a:ea typeface="Aptos"/>
                <a:cs typeface="Aptos"/>
              </a:defRPr>
            </a:lvl6pPr>
            <a:lvl7pPr>
              <a:defRPr sz="2025" b="1">
                <a:solidFill>
                  <a:srgbClr val="52677A"/>
                </a:solidFill>
                <a:latin typeface="Aptos"/>
                <a:ea typeface="Aptos"/>
                <a:cs typeface="Aptos"/>
              </a:defRPr>
            </a:lvl7pPr>
            <a:lvl8pPr>
              <a:defRPr sz="2025" b="1">
                <a:solidFill>
                  <a:srgbClr val="52677A"/>
                </a:solidFill>
                <a:latin typeface="Aptos"/>
                <a:ea typeface="Aptos"/>
                <a:cs typeface="Aptos"/>
              </a:defRPr>
            </a:lvl8pPr>
            <a:lvl9pPr>
              <a:defRPr sz="2025" b="1">
                <a:solidFill>
                  <a:srgbClr val="52677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52677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52677A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F334967-BF28-454D-869F-F91993C1F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324100"/>
            <a:ext cx="18669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CBD002A-68C2-42A0-B68A-91D41A1E1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324100"/>
            <a:ext cx="1866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3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174DC7E-B234-4BDC-A0D9-FF6E2E53B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2590800"/>
            <a:ext cx="1600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2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defPPr>
            <a:lvl1pPr>
              <a:defRPr sz="12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1pPr>
            <a:lvl2pPr>
              <a:defRPr sz="12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2pPr>
            <a:lvl3pPr>
              <a:defRPr sz="12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3pPr>
            <a:lvl4pPr>
              <a:defRPr sz="12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4pPr>
            <a:lvl5pPr>
              <a:defRPr sz="12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5pPr>
            <a:lvl6pPr>
              <a:defRPr sz="12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6pPr>
            <a:lvl7pPr>
              <a:defRPr sz="12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7pPr>
            <a:lvl8pPr>
              <a:defRPr sz="12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8pPr>
            <a:lvl9pPr>
              <a:defRPr sz="12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08C95"/>
                </a:solidFill>
                <a:latin typeface="Aptos"/>
                <a:ea typeface="Aptos"/>
                <a:cs typeface="Aptos"/>
              </a:rPr>
              <a:t>RESPOND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AF69A54-342F-462A-BDA4-DF94B58B8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3009900"/>
            <a:ext cx="1600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275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defPPr>
            <a:lvl1pPr>
              <a:defRPr sz="1275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1pPr>
            <a:lvl2pPr>
              <a:defRPr sz="1275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2pPr>
            <a:lvl3pPr>
              <a:defRPr sz="1275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3pPr>
            <a:lvl4pPr>
              <a:defRPr sz="1275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4pPr>
            <a:lvl5pPr>
              <a:defRPr sz="1275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5pPr>
            <a:lvl6pPr>
              <a:defRPr sz="1275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6pPr>
            <a:lvl7pPr>
              <a:defRPr sz="1275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7pPr>
            <a:lvl8pPr>
              <a:defRPr sz="1275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8pPr>
            <a:lvl9pPr>
              <a:defRPr sz="1275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B3A"/>
                </a:solidFill>
                <a:latin typeface="Aptos"/>
                <a:ea typeface="Aptos"/>
                <a:cs typeface="Aptos"/>
              </a:rPr>
              <a:t>Notify • case • audit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8D40313-AFE3-42AF-B8BB-26749C730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191000"/>
            <a:ext cx="1038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5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defPPr>
            <a:lvl1pPr>
              <a:defRPr sz="15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1pPr>
            <a:lvl2pPr>
              <a:defRPr sz="15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2pPr>
            <a:lvl3pPr>
              <a:defRPr sz="15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3pPr>
            <a:lvl4pPr>
              <a:defRPr sz="15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4pPr>
            <a:lvl5pPr>
              <a:defRPr sz="15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5pPr>
            <a:lvl6pPr>
              <a:defRPr sz="15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6pPr>
            <a:lvl7pPr>
              <a:defRPr sz="15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7pPr>
            <a:lvl8pPr>
              <a:defRPr sz="15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8pPr>
            <a:lvl9pPr>
              <a:defRPr sz="15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243A"/>
                </a:solidFill>
                <a:latin typeface="Aptos"/>
                <a:ea typeface="Aptos"/>
                <a:cs typeface="Aptos"/>
              </a:rPr>
              <a:t>12 bounded contexts • Kafka event backbone • REST/gRPC contracts • independent stores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07B2F4F-712A-4C80-884B-67488686D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8768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275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defPPr>
            <a:lvl1pPr>
              <a:defRPr sz="1275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1pPr>
            <a:lvl2pPr>
              <a:defRPr sz="1275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2pPr>
            <a:lvl3pPr>
              <a:defRPr sz="1275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3pPr>
            <a:lvl4pPr>
              <a:defRPr sz="1275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4pPr>
            <a:lvl5pPr>
              <a:defRPr sz="1275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5pPr>
            <a:lvl6pPr>
              <a:defRPr sz="1275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6pPr>
            <a:lvl7pPr>
              <a:defRPr sz="1275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7pPr>
            <a:lvl8pPr>
              <a:defRPr sz="1275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8pPr>
            <a:lvl9pPr>
              <a:defRPr sz="1275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77A"/>
                </a:solidFill>
                <a:latin typeface="Aptos"/>
                <a:ea typeface="Aptos"/>
                <a:cs typeface="Aptos"/>
              </a:rPr>
              <a:t>See C4 UML source: diagrams/c4_level1_system_context.puml and c4_level2_container.puml</a:t>
            </a:r>
          </a:p>
        </p:txBody>
      </p:sp>
    </p:spTree>
    <p:extLst>
      <p:ext uri="{BB962C8B-B14F-4D97-AF65-F5344CB8AC3E}">
        <p14:creationId xmlns:p14="http://schemas.microsoft.com/office/powerpoint/2010/main" val="8658518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5F36D3-1397-43AD-AB6A-95F7B97D9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8F1B98-CF49-4CAC-A226-14E75F5E0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defPPr>
            <a:lvl1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1pPr>
            <a:lvl2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2pPr>
            <a:lvl3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3pPr>
            <a:lvl4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4pPr>
            <a:lvl5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5pPr>
            <a:lvl6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6pPr>
            <a:lvl7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7pPr>
            <a:lvl8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8pPr>
            <a:lvl9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8C95"/>
                </a:solidFill>
                <a:latin typeface="Aptos"/>
                <a:ea typeface="Aptos"/>
                <a:cs typeface="Aptos"/>
              </a:rPr>
              <a:t>AEGIS | RISK &amp; TECHNOLOGY BOARD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CD008E-C93C-47F0-B1BC-E37752545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defPPr>
            <a:lvl1pPr>
              <a:defRPr sz="27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1pPr>
            <a:lvl2pPr>
              <a:defRPr sz="27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2pPr>
            <a:lvl3pPr>
              <a:defRPr sz="27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3pPr>
            <a:lvl4pPr>
              <a:defRPr sz="27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4pPr>
            <a:lvl5pPr>
              <a:defRPr sz="27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5pPr>
            <a:lvl6pPr>
              <a:defRPr sz="27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6pPr>
            <a:lvl7pPr>
              <a:defRPr sz="27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7pPr>
            <a:lvl8pPr>
              <a:defRPr sz="27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8pPr>
            <a:lvl9pPr>
              <a:defRPr sz="27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2243A"/>
                </a:solidFill>
                <a:latin typeface="Aptos"/>
                <a:ea typeface="Aptos"/>
                <a:cs typeface="Aptos"/>
              </a:rPr>
              <a:t>Three signal families produce one explainable decision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0ECD17-8CF7-4EA7-AB32-FEBD81ABA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38875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6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113352-AC3F-4CF5-BAD0-121886DE2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817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9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defPPr>
            <a:lvl1pPr>
              <a:defRPr sz="9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1pPr>
            <a:lvl2pPr>
              <a:defRPr sz="9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2pPr>
            <a:lvl3pPr>
              <a:defRPr sz="9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3pPr>
            <a:lvl4pPr>
              <a:defRPr sz="9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4pPr>
            <a:lvl5pPr>
              <a:defRPr sz="9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5pPr>
            <a:lvl6pPr>
              <a:defRPr sz="9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6pPr>
            <a:lvl7pPr>
              <a:defRPr sz="9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7pPr>
            <a:lvl8pPr>
              <a:defRPr sz="9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8pPr>
            <a:lvl9pPr>
              <a:defRPr sz="9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77A"/>
                </a:solidFill>
                <a:latin typeface="Aptos"/>
                <a:ea typeface="Aptos"/>
                <a:cs typeface="Aptos"/>
              </a:rPr>
              <a:t>SHIELDPAY  •  ARCHITECTURE PROPOSAL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EBC1CB-B2CD-4AD4-9513-12436547B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defPPr>
            <a:lvl1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1pPr>
            <a:lvl2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2pPr>
            <a:lvl3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3pPr>
            <a:lvl4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4pPr>
            <a:lvl5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5pPr>
            <a:lvl6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6pPr>
            <a:lvl7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7pPr>
            <a:lvl8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8pPr>
            <a:lvl9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8C95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585FC0-0DC7-4951-9360-2DFEE734E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81200"/>
            <a:ext cx="333375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9D173D-5406-4078-A1E0-18CFF999D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81200"/>
            <a:ext cx="3333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3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23A092-A57B-4AF5-9A88-817D7C94D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66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425" b="1">
                <a:solidFill>
                  <a:srgbClr val="2673B8"/>
                </a:solidFill>
                <a:latin typeface="Aptos"/>
                <a:ea typeface="Aptos"/>
                <a:cs typeface="Aptos"/>
              </a:defRPr>
            </a:defPPr>
            <a:lvl1pPr>
              <a:defRPr sz="1425" b="1">
                <a:solidFill>
                  <a:srgbClr val="2673B8"/>
                </a:solidFill>
                <a:latin typeface="Aptos"/>
                <a:ea typeface="Aptos"/>
                <a:cs typeface="Aptos"/>
              </a:defRPr>
            </a:lvl1pPr>
            <a:lvl2pPr>
              <a:defRPr sz="1425" b="1">
                <a:solidFill>
                  <a:srgbClr val="2673B8"/>
                </a:solidFill>
                <a:latin typeface="Aptos"/>
                <a:ea typeface="Aptos"/>
                <a:cs typeface="Aptos"/>
              </a:defRPr>
            </a:lvl2pPr>
            <a:lvl3pPr>
              <a:defRPr sz="1425" b="1">
                <a:solidFill>
                  <a:srgbClr val="2673B8"/>
                </a:solidFill>
                <a:latin typeface="Aptos"/>
                <a:ea typeface="Aptos"/>
                <a:cs typeface="Aptos"/>
              </a:defRPr>
            </a:lvl3pPr>
            <a:lvl4pPr>
              <a:defRPr sz="1425" b="1">
                <a:solidFill>
                  <a:srgbClr val="2673B8"/>
                </a:solidFill>
                <a:latin typeface="Aptos"/>
                <a:ea typeface="Aptos"/>
                <a:cs typeface="Aptos"/>
              </a:defRPr>
            </a:lvl4pPr>
            <a:lvl5pPr>
              <a:defRPr sz="1425" b="1">
                <a:solidFill>
                  <a:srgbClr val="2673B8"/>
                </a:solidFill>
                <a:latin typeface="Aptos"/>
                <a:ea typeface="Aptos"/>
                <a:cs typeface="Aptos"/>
              </a:defRPr>
            </a:lvl5pPr>
            <a:lvl6pPr>
              <a:defRPr sz="1425" b="1">
                <a:solidFill>
                  <a:srgbClr val="2673B8"/>
                </a:solidFill>
                <a:latin typeface="Aptos"/>
                <a:ea typeface="Aptos"/>
                <a:cs typeface="Aptos"/>
              </a:defRPr>
            </a:lvl6pPr>
            <a:lvl7pPr>
              <a:defRPr sz="1425" b="1">
                <a:solidFill>
                  <a:srgbClr val="2673B8"/>
                </a:solidFill>
                <a:latin typeface="Aptos"/>
                <a:ea typeface="Aptos"/>
                <a:cs typeface="Aptos"/>
              </a:defRPr>
            </a:lvl7pPr>
            <a:lvl8pPr>
              <a:defRPr sz="1425" b="1">
                <a:solidFill>
                  <a:srgbClr val="2673B8"/>
                </a:solidFill>
                <a:latin typeface="Aptos"/>
                <a:ea typeface="Aptos"/>
                <a:cs typeface="Aptos"/>
              </a:defRPr>
            </a:lvl8pPr>
            <a:lvl9pPr>
              <a:defRPr sz="1425" b="1">
                <a:solidFill>
                  <a:srgbClr val="2673B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2673B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673B8"/>
                </a:solidFill>
                <a:latin typeface="Aptos"/>
                <a:ea typeface="Aptos"/>
                <a:cs typeface="Aptos"/>
              </a:rPr>
              <a:t>RULES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727AA2-62EF-4014-92E4-A8ED743C8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860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8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defPPr>
            <a:lvl1pPr>
              <a:defRPr sz="18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1pPr>
            <a:lvl2pPr>
              <a:defRPr sz="18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2pPr>
            <a:lvl3pPr>
              <a:defRPr sz="18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3pPr>
            <a:lvl4pPr>
              <a:defRPr sz="18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4pPr>
            <a:lvl5pPr>
              <a:defRPr sz="18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5pPr>
            <a:lvl6pPr>
              <a:defRPr sz="18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6pPr>
            <a:lvl7pPr>
              <a:defRPr sz="18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7pPr>
            <a:lvl8pPr>
              <a:defRPr sz="18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8pPr>
            <a:lvl9pPr>
              <a:defRPr sz="18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2243A"/>
                </a:solidFill>
                <a:latin typeface="Aptos"/>
                <a:ea typeface="Aptos"/>
                <a:cs typeface="Aptos"/>
              </a:rPr>
              <a:t>Known patterns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535A40-F8C7-4182-A389-38D4260E0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09925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defPPr>
            <a:lvl1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1pPr>
            <a:lvl2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2pPr>
            <a:lvl3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3pPr>
            <a:lvl4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4pPr>
            <a:lvl5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5pPr>
            <a:lvl6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6pPr>
            <a:lvl7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7pPr>
            <a:lvl8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8pPr>
            <a:lvl9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B3A"/>
                </a:solidFill>
                <a:latin typeface="Aptos"/>
                <a:ea typeface="Aptos"/>
                <a:cs typeface="Aptos"/>
              </a:rPr>
              <a:t>Versioned conditions, velocity limits, blocks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1FD3F4-4304-40C2-B194-4818BEF74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981200"/>
            <a:ext cx="333375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2D0C7C-0C13-438B-9098-7302101E2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981200"/>
            <a:ext cx="3333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8828BB-7150-49CE-B3FD-20A2B707E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266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42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defPPr>
            <a:lvl1pPr>
              <a:defRPr sz="142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1pPr>
            <a:lvl2pPr>
              <a:defRPr sz="142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2pPr>
            <a:lvl3pPr>
              <a:defRPr sz="142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3pPr>
            <a:lvl4pPr>
              <a:defRPr sz="142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4pPr>
            <a:lvl5pPr>
              <a:defRPr sz="142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5pPr>
            <a:lvl6pPr>
              <a:defRPr sz="142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6pPr>
            <a:lvl7pPr>
              <a:defRPr sz="142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7pPr>
            <a:lvl8pPr>
              <a:defRPr sz="142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8pPr>
            <a:lvl9pPr>
              <a:defRPr sz="142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08C95"/>
                </a:solidFill>
                <a:latin typeface="Aptos"/>
                <a:ea typeface="Aptos"/>
                <a:cs typeface="Aptos"/>
              </a:rPr>
              <a:t>ANOMALY / ML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113931-6C6C-404A-9425-D63991304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860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8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defPPr>
            <a:lvl1pPr>
              <a:defRPr sz="18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1pPr>
            <a:lvl2pPr>
              <a:defRPr sz="18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2pPr>
            <a:lvl3pPr>
              <a:defRPr sz="18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3pPr>
            <a:lvl4pPr>
              <a:defRPr sz="18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4pPr>
            <a:lvl5pPr>
              <a:defRPr sz="18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5pPr>
            <a:lvl6pPr>
              <a:defRPr sz="18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6pPr>
            <a:lvl7pPr>
              <a:defRPr sz="18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7pPr>
            <a:lvl8pPr>
              <a:defRPr sz="18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8pPr>
            <a:lvl9pPr>
              <a:defRPr sz="18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2243A"/>
                </a:solidFill>
                <a:latin typeface="Aptos"/>
                <a:ea typeface="Aptos"/>
                <a:cs typeface="Aptos"/>
              </a:rPr>
              <a:t>Unusual behavior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8A67AC-E90E-40AF-A80A-4E4887529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209925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defPPr>
            <a:lvl1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1pPr>
            <a:lvl2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2pPr>
            <a:lvl3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3pPr>
            <a:lvl4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4pPr>
            <a:lvl5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5pPr>
            <a:lvl6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6pPr>
            <a:lvl7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7pPr>
            <a:lvl8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8pPr>
            <a:lvl9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B3A"/>
                </a:solidFill>
                <a:latin typeface="Aptos"/>
                <a:ea typeface="Aptos"/>
                <a:cs typeface="Aptos"/>
              </a:rPr>
              <a:t>Online features, model score, drift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6BB7E2-D8F2-45BC-8CBF-8B90C99D5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81200"/>
            <a:ext cx="333375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76C839-80BB-4D11-AB64-9AB40FFBC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81200"/>
            <a:ext cx="3333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9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0C0037-CD5D-4E84-8CB7-60B857014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266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425" b="1">
                <a:solidFill>
                  <a:srgbClr val="D88928"/>
                </a:solidFill>
                <a:latin typeface="Aptos"/>
                <a:ea typeface="Aptos"/>
                <a:cs typeface="Aptos"/>
              </a:defRPr>
            </a:defPPr>
            <a:lvl1pPr>
              <a:defRPr sz="1425" b="1">
                <a:solidFill>
                  <a:srgbClr val="D88928"/>
                </a:solidFill>
                <a:latin typeface="Aptos"/>
                <a:ea typeface="Aptos"/>
                <a:cs typeface="Aptos"/>
              </a:defRPr>
            </a:lvl1pPr>
            <a:lvl2pPr>
              <a:defRPr sz="1425" b="1">
                <a:solidFill>
                  <a:srgbClr val="D88928"/>
                </a:solidFill>
                <a:latin typeface="Aptos"/>
                <a:ea typeface="Aptos"/>
                <a:cs typeface="Aptos"/>
              </a:defRPr>
            </a:lvl2pPr>
            <a:lvl3pPr>
              <a:defRPr sz="1425" b="1">
                <a:solidFill>
                  <a:srgbClr val="D88928"/>
                </a:solidFill>
                <a:latin typeface="Aptos"/>
                <a:ea typeface="Aptos"/>
                <a:cs typeface="Aptos"/>
              </a:defRPr>
            </a:lvl3pPr>
            <a:lvl4pPr>
              <a:defRPr sz="1425" b="1">
                <a:solidFill>
                  <a:srgbClr val="D88928"/>
                </a:solidFill>
                <a:latin typeface="Aptos"/>
                <a:ea typeface="Aptos"/>
                <a:cs typeface="Aptos"/>
              </a:defRPr>
            </a:lvl4pPr>
            <a:lvl5pPr>
              <a:defRPr sz="1425" b="1">
                <a:solidFill>
                  <a:srgbClr val="D88928"/>
                </a:solidFill>
                <a:latin typeface="Aptos"/>
                <a:ea typeface="Aptos"/>
                <a:cs typeface="Aptos"/>
              </a:defRPr>
            </a:lvl5pPr>
            <a:lvl6pPr>
              <a:defRPr sz="1425" b="1">
                <a:solidFill>
                  <a:srgbClr val="D88928"/>
                </a:solidFill>
                <a:latin typeface="Aptos"/>
                <a:ea typeface="Aptos"/>
                <a:cs typeface="Aptos"/>
              </a:defRPr>
            </a:lvl6pPr>
            <a:lvl7pPr>
              <a:defRPr sz="1425" b="1">
                <a:solidFill>
                  <a:srgbClr val="D88928"/>
                </a:solidFill>
                <a:latin typeface="Aptos"/>
                <a:ea typeface="Aptos"/>
                <a:cs typeface="Aptos"/>
              </a:defRPr>
            </a:lvl7pPr>
            <a:lvl8pPr>
              <a:defRPr sz="1425" b="1">
                <a:solidFill>
                  <a:srgbClr val="D88928"/>
                </a:solidFill>
                <a:latin typeface="Aptos"/>
                <a:ea typeface="Aptos"/>
                <a:cs typeface="Aptos"/>
              </a:defRPr>
            </a:lvl8pPr>
            <a:lvl9pPr>
              <a:defRPr sz="1425" b="1">
                <a:solidFill>
                  <a:srgbClr val="D8892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D8892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D88928"/>
                </a:solidFill>
                <a:latin typeface="Aptos"/>
                <a:ea typeface="Aptos"/>
                <a:cs typeface="Aptos"/>
              </a:rPr>
              <a:t>GRAPH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5DB7A7-393D-47DB-BFEC-042E8FDD5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6860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8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defPPr>
            <a:lvl1pPr>
              <a:defRPr sz="18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1pPr>
            <a:lvl2pPr>
              <a:defRPr sz="18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2pPr>
            <a:lvl3pPr>
              <a:defRPr sz="18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3pPr>
            <a:lvl4pPr>
              <a:defRPr sz="18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4pPr>
            <a:lvl5pPr>
              <a:defRPr sz="18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5pPr>
            <a:lvl6pPr>
              <a:defRPr sz="18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6pPr>
            <a:lvl7pPr>
              <a:defRPr sz="18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7pPr>
            <a:lvl8pPr>
              <a:defRPr sz="18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8pPr>
            <a:lvl9pPr>
              <a:defRPr sz="18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2243A"/>
                </a:solidFill>
                <a:latin typeface="Aptos"/>
                <a:ea typeface="Aptos"/>
                <a:cs typeface="Aptos"/>
              </a:rPr>
              <a:t>Connected risk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3DF28D-6DB1-4580-BB6A-A9492A51D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209925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defPPr>
            <a:lvl1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1pPr>
            <a:lvl2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2pPr>
            <a:lvl3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3pPr>
            <a:lvl4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4pPr>
            <a:lvl5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5pPr>
            <a:lvl6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6pPr>
            <a:lvl7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7pPr>
            <a:lvl8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8pPr>
            <a:lvl9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B3A"/>
                </a:solidFill>
                <a:latin typeface="Aptos"/>
                <a:ea typeface="Aptos"/>
                <a:cs typeface="Aptos"/>
              </a:rPr>
              <a:t>Shared devices, mule paths, ring indicators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82A5F7-F746-4EB4-9F03-9C05BA85C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48200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defPPr>
            <a:lvl1pPr>
              <a:defRPr sz="165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1pPr>
            <a:lvl2pPr>
              <a:defRPr sz="165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2pPr>
            <a:lvl3pPr>
              <a:defRPr sz="165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3pPr>
            <a:lvl4pPr>
              <a:defRPr sz="165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4pPr>
            <a:lvl5pPr>
              <a:defRPr sz="165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5pPr>
            <a:lvl6pPr>
              <a:defRPr sz="165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6pPr>
            <a:lvl7pPr>
              <a:defRPr sz="165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7pPr>
            <a:lvl8pPr>
              <a:defRPr sz="165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8pPr>
            <a:lvl9pPr>
              <a:defRPr sz="165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2243A"/>
                </a:solidFill>
                <a:latin typeface="Aptos"/>
                <a:ea typeface="Aptos"/>
                <a:cs typeface="Aptos"/>
              </a:rPr>
              <a:t>Risk Scoring combines bounded signals into a 0–1000 score with reasons and version references.</a:t>
            </a:r>
          </a:p>
        </p:txBody>
      </p:sp>
    </p:spTree>
    <p:extLst>
      <p:ext uri="{BB962C8B-B14F-4D97-AF65-F5344CB8AC3E}">
        <p14:creationId xmlns:p14="http://schemas.microsoft.com/office/powerpoint/2010/main" val="157062789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65C907-B532-482A-8E78-FE4644972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CEB8FB-4D9A-4F00-B3F0-9C1DF21B2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defPPr>
            <a:lvl1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1pPr>
            <a:lvl2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2pPr>
            <a:lvl3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3pPr>
            <a:lvl4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4pPr>
            <a:lvl5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5pPr>
            <a:lvl6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6pPr>
            <a:lvl7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7pPr>
            <a:lvl8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8pPr>
            <a:lvl9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8C95"/>
                </a:solidFill>
                <a:latin typeface="Aptos"/>
                <a:ea typeface="Aptos"/>
                <a:cs typeface="Aptos"/>
              </a:rPr>
              <a:t>AEGIS | RISK &amp; TECHNOLOGY BOARD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87220F-9E09-4746-96F5-D04B7337C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defPPr>
            <a:lvl1pPr>
              <a:defRPr sz="27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1pPr>
            <a:lvl2pPr>
              <a:defRPr sz="27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2pPr>
            <a:lvl3pPr>
              <a:defRPr sz="27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3pPr>
            <a:lvl4pPr>
              <a:defRPr sz="27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4pPr>
            <a:lvl5pPr>
              <a:defRPr sz="27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5pPr>
            <a:lvl6pPr>
              <a:defRPr sz="27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6pPr>
            <a:lvl7pPr>
              <a:defRPr sz="27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7pPr>
            <a:lvl8pPr>
              <a:defRPr sz="27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8pPr>
            <a:lvl9pPr>
              <a:defRPr sz="27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2243A"/>
                </a:solidFill>
                <a:latin typeface="Aptos"/>
                <a:ea typeface="Aptos"/>
                <a:cs typeface="Aptos"/>
              </a:rPr>
              <a:t>Decision thresholds match the response to risk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DC43C1-1217-4771-B4FC-6423FC043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38875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6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CD2414-F15D-41F1-B532-6BB782169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817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9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defPPr>
            <a:lvl1pPr>
              <a:defRPr sz="9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1pPr>
            <a:lvl2pPr>
              <a:defRPr sz="9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2pPr>
            <a:lvl3pPr>
              <a:defRPr sz="9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3pPr>
            <a:lvl4pPr>
              <a:defRPr sz="9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4pPr>
            <a:lvl5pPr>
              <a:defRPr sz="9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5pPr>
            <a:lvl6pPr>
              <a:defRPr sz="9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6pPr>
            <a:lvl7pPr>
              <a:defRPr sz="9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7pPr>
            <a:lvl8pPr>
              <a:defRPr sz="9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8pPr>
            <a:lvl9pPr>
              <a:defRPr sz="9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77A"/>
                </a:solidFill>
                <a:latin typeface="Aptos"/>
                <a:ea typeface="Aptos"/>
                <a:cs typeface="Aptos"/>
              </a:rPr>
              <a:t>SHIELDPAY  •  ARCHITECTURE PROPOSAL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A7724B-1802-4A89-81C4-E765C6182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defPPr>
            <a:lvl1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1pPr>
            <a:lvl2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2pPr>
            <a:lvl3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3pPr>
            <a:lvl4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4pPr>
            <a:lvl5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5pPr>
            <a:lvl6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6pPr>
            <a:lvl7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7pPr>
            <a:lvl8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8pPr>
            <a:lvl9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8C95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A84523-CE02-4870-AEE7-5E6A75C89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10744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8B697E-2CB9-4BA6-A7FB-4C2A40B00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3357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8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defPPr>
            <a:lvl1pPr>
              <a:defRPr sz="18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1pPr>
            <a:lvl2pPr>
              <a:defRPr sz="18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2pPr>
            <a:lvl3pPr>
              <a:defRPr sz="18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3pPr>
            <a:lvl4pPr>
              <a:defRPr sz="18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4pPr>
            <a:lvl5pPr>
              <a:defRPr sz="18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5pPr>
            <a:lvl6pPr>
              <a:defRPr sz="18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6pPr>
            <a:lvl7pPr>
              <a:defRPr sz="18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7pPr>
            <a:lvl8pPr>
              <a:defRPr sz="18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8pPr>
            <a:lvl9pPr>
              <a:defRPr sz="18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2243A"/>
                </a:solidFill>
                <a:latin typeface="Aptos"/>
                <a:ea typeface="Aptos"/>
                <a:cs typeface="Aptos"/>
              </a:rPr>
              <a:t>0–199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6B48A9-9CC7-4633-AA07-2D20207E5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9431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defPPr>
            <a:lvl1pPr>
              <a:defRPr sz="165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1pPr>
            <a:lvl2pPr>
              <a:defRPr sz="165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2pPr>
            <a:lvl3pPr>
              <a:defRPr sz="165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3pPr>
            <a:lvl4pPr>
              <a:defRPr sz="165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4pPr>
            <a:lvl5pPr>
              <a:defRPr sz="165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5pPr>
            <a:lvl6pPr>
              <a:defRPr sz="165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6pPr>
            <a:lvl7pPr>
              <a:defRPr sz="165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7pPr>
            <a:lvl8pPr>
              <a:defRPr sz="165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8pPr>
            <a:lvl9pPr>
              <a:defRPr sz="165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08C95"/>
                </a:solidFill>
                <a:latin typeface="Aptos"/>
                <a:ea typeface="Aptos"/>
                <a:cs typeface="Aptos"/>
              </a:rPr>
              <a:t>Approve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D73C0E-F30C-4E7B-B5A1-F4C77B38E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9431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defPPr>
            <a:lvl1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1pPr>
            <a:lvl2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2pPr>
            <a:lvl3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3pPr>
            <a:lvl4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4pPr>
            <a:lvl5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5pPr>
            <a:lvl6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6pPr>
            <a:lvl7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7pPr>
            <a:lvl8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8pPr>
            <a:lvl9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B3A"/>
                </a:solidFill>
                <a:latin typeface="Aptos"/>
                <a:ea typeface="Aptos"/>
                <a:cs typeface="Aptos"/>
              </a:rPr>
              <a:t>normal authorization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A357EC-B144-4CD7-B091-C9FF10BDA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28900"/>
            <a:ext cx="10744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101AF9-93D9-43E5-82D8-312BD60EA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0987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8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defPPr>
            <a:lvl1pPr>
              <a:defRPr sz="18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1pPr>
            <a:lvl2pPr>
              <a:defRPr sz="18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2pPr>
            <a:lvl3pPr>
              <a:defRPr sz="18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3pPr>
            <a:lvl4pPr>
              <a:defRPr sz="18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4pPr>
            <a:lvl5pPr>
              <a:defRPr sz="18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5pPr>
            <a:lvl6pPr>
              <a:defRPr sz="18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6pPr>
            <a:lvl7pPr>
              <a:defRPr sz="18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7pPr>
            <a:lvl8pPr>
              <a:defRPr sz="18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8pPr>
            <a:lvl9pPr>
              <a:defRPr sz="18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2243A"/>
                </a:solidFill>
                <a:latin typeface="Aptos"/>
                <a:ea typeface="Aptos"/>
                <a:cs typeface="Aptos"/>
              </a:rPr>
              <a:t>200–599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5802BF-4E27-4A50-A477-5E25933C3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8194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2673B8"/>
                </a:solidFill>
                <a:latin typeface="Aptos"/>
                <a:ea typeface="Aptos"/>
                <a:cs typeface="Aptos"/>
              </a:defRPr>
            </a:defPPr>
            <a:lvl1pPr>
              <a:defRPr sz="1650" b="1">
                <a:solidFill>
                  <a:srgbClr val="2673B8"/>
                </a:solidFill>
                <a:latin typeface="Aptos"/>
                <a:ea typeface="Aptos"/>
                <a:cs typeface="Aptos"/>
              </a:defRPr>
            </a:lvl1pPr>
            <a:lvl2pPr>
              <a:defRPr sz="1650" b="1">
                <a:solidFill>
                  <a:srgbClr val="2673B8"/>
                </a:solidFill>
                <a:latin typeface="Aptos"/>
                <a:ea typeface="Aptos"/>
                <a:cs typeface="Aptos"/>
              </a:defRPr>
            </a:lvl2pPr>
            <a:lvl3pPr>
              <a:defRPr sz="1650" b="1">
                <a:solidFill>
                  <a:srgbClr val="2673B8"/>
                </a:solidFill>
                <a:latin typeface="Aptos"/>
                <a:ea typeface="Aptos"/>
                <a:cs typeface="Aptos"/>
              </a:defRPr>
            </a:lvl3pPr>
            <a:lvl4pPr>
              <a:defRPr sz="1650" b="1">
                <a:solidFill>
                  <a:srgbClr val="2673B8"/>
                </a:solidFill>
                <a:latin typeface="Aptos"/>
                <a:ea typeface="Aptos"/>
                <a:cs typeface="Aptos"/>
              </a:defRPr>
            </a:lvl4pPr>
            <a:lvl5pPr>
              <a:defRPr sz="1650" b="1">
                <a:solidFill>
                  <a:srgbClr val="2673B8"/>
                </a:solidFill>
                <a:latin typeface="Aptos"/>
                <a:ea typeface="Aptos"/>
                <a:cs typeface="Aptos"/>
              </a:defRPr>
            </a:lvl5pPr>
            <a:lvl6pPr>
              <a:defRPr sz="1650" b="1">
                <a:solidFill>
                  <a:srgbClr val="2673B8"/>
                </a:solidFill>
                <a:latin typeface="Aptos"/>
                <a:ea typeface="Aptos"/>
                <a:cs typeface="Aptos"/>
              </a:defRPr>
            </a:lvl6pPr>
            <a:lvl7pPr>
              <a:defRPr sz="1650" b="1">
                <a:solidFill>
                  <a:srgbClr val="2673B8"/>
                </a:solidFill>
                <a:latin typeface="Aptos"/>
                <a:ea typeface="Aptos"/>
                <a:cs typeface="Aptos"/>
              </a:defRPr>
            </a:lvl7pPr>
            <a:lvl8pPr>
              <a:defRPr sz="1650" b="1">
                <a:solidFill>
                  <a:srgbClr val="2673B8"/>
                </a:solidFill>
                <a:latin typeface="Aptos"/>
                <a:ea typeface="Aptos"/>
                <a:cs typeface="Aptos"/>
              </a:defRPr>
            </a:lvl8pPr>
            <a:lvl9pPr>
              <a:defRPr sz="1650" b="1">
                <a:solidFill>
                  <a:srgbClr val="2673B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673B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673B8"/>
                </a:solidFill>
                <a:latin typeface="Aptos"/>
                <a:ea typeface="Aptos"/>
                <a:cs typeface="Aptos"/>
              </a:rPr>
              <a:t>Step up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AFD564-7766-4D9A-ADAE-C08F65CBC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8194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defPPr>
            <a:lvl1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1pPr>
            <a:lvl2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2pPr>
            <a:lvl3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3pPr>
            <a:lvl4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4pPr>
            <a:lvl5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5pPr>
            <a:lvl6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6pPr>
            <a:lvl7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7pPr>
            <a:lvl8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8pPr>
            <a:lvl9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B3A"/>
                </a:solidFill>
                <a:latin typeface="Aptos"/>
                <a:ea typeface="Aptos"/>
                <a:cs typeface="Aptos"/>
              </a:rPr>
              <a:t>OTP / biometric challenge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33B89A-6603-4634-85BC-190436D4C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05200"/>
            <a:ext cx="10744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C5F13B-2DA4-4262-A8EA-CF877C12A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8617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8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defPPr>
            <a:lvl1pPr>
              <a:defRPr sz="18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1pPr>
            <a:lvl2pPr>
              <a:defRPr sz="18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2pPr>
            <a:lvl3pPr>
              <a:defRPr sz="18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3pPr>
            <a:lvl4pPr>
              <a:defRPr sz="18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4pPr>
            <a:lvl5pPr>
              <a:defRPr sz="18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5pPr>
            <a:lvl6pPr>
              <a:defRPr sz="18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6pPr>
            <a:lvl7pPr>
              <a:defRPr sz="18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7pPr>
            <a:lvl8pPr>
              <a:defRPr sz="18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8pPr>
            <a:lvl9pPr>
              <a:defRPr sz="18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2243A"/>
                </a:solidFill>
                <a:latin typeface="Aptos"/>
                <a:ea typeface="Aptos"/>
                <a:cs typeface="Aptos"/>
              </a:rPr>
              <a:t>600–799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B47111-9EB9-45EE-8BD4-8DA0FB932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6957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D88928"/>
                </a:solidFill>
                <a:latin typeface="Aptos"/>
                <a:ea typeface="Aptos"/>
                <a:cs typeface="Aptos"/>
              </a:defRPr>
            </a:defPPr>
            <a:lvl1pPr>
              <a:defRPr sz="1650" b="1">
                <a:solidFill>
                  <a:srgbClr val="D88928"/>
                </a:solidFill>
                <a:latin typeface="Aptos"/>
                <a:ea typeface="Aptos"/>
                <a:cs typeface="Aptos"/>
              </a:defRPr>
            </a:lvl1pPr>
            <a:lvl2pPr>
              <a:defRPr sz="1650" b="1">
                <a:solidFill>
                  <a:srgbClr val="D88928"/>
                </a:solidFill>
                <a:latin typeface="Aptos"/>
                <a:ea typeface="Aptos"/>
                <a:cs typeface="Aptos"/>
              </a:defRPr>
            </a:lvl2pPr>
            <a:lvl3pPr>
              <a:defRPr sz="1650" b="1">
                <a:solidFill>
                  <a:srgbClr val="D88928"/>
                </a:solidFill>
                <a:latin typeface="Aptos"/>
                <a:ea typeface="Aptos"/>
                <a:cs typeface="Aptos"/>
              </a:defRPr>
            </a:lvl3pPr>
            <a:lvl4pPr>
              <a:defRPr sz="1650" b="1">
                <a:solidFill>
                  <a:srgbClr val="D88928"/>
                </a:solidFill>
                <a:latin typeface="Aptos"/>
                <a:ea typeface="Aptos"/>
                <a:cs typeface="Aptos"/>
              </a:defRPr>
            </a:lvl4pPr>
            <a:lvl5pPr>
              <a:defRPr sz="1650" b="1">
                <a:solidFill>
                  <a:srgbClr val="D88928"/>
                </a:solidFill>
                <a:latin typeface="Aptos"/>
                <a:ea typeface="Aptos"/>
                <a:cs typeface="Aptos"/>
              </a:defRPr>
            </a:lvl5pPr>
            <a:lvl6pPr>
              <a:defRPr sz="1650" b="1">
                <a:solidFill>
                  <a:srgbClr val="D88928"/>
                </a:solidFill>
                <a:latin typeface="Aptos"/>
                <a:ea typeface="Aptos"/>
                <a:cs typeface="Aptos"/>
              </a:defRPr>
            </a:lvl6pPr>
            <a:lvl7pPr>
              <a:defRPr sz="1650" b="1">
                <a:solidFill>
                  <a:srgbClr val="D88928"/>
                </a:solidFill>
                <a:latin typeface="Aptos"/>
                <a:ea typeface="Aptos"/>
                <a:cs typeface="Aptos"/>
              </a:defRPr>
            </a:lvl7pPr>
            <a:lvl8pPr>
              <a:defRPr sz="1650" b="1">
                <a:solidFill>
                  <a:srgbClr val="D88928"/>
                </a:solidFill>
                <a:latin typeface="Aptos"/>
                <a:ea typeface="Aptos"/>
                <a:cs typeface="Aptos"/>
              </a:defRPr>
            </a:lvl8pPr>
            <a:lvl9pPr>
              <a:defRPr sz="1650" b="1">
                <a:solidFill>
                  <a:srgbClr val="D8892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D8892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D88928"/>
                </a:solidFill>
                <a:latin typeface="Aptos"/>
                <a:ea typeface="Aptos"/>
                <a:cs typeface="Aptos"/>
              </a:rPr>
              <a:t>Review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1AB0B9-4649-48E4-A87E-5DCC0C7B8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6957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defPPr>
            <a:lvl1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1pPr>
            <a:lvl2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2pPr>
            <a:lvl3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3pPr>
            <a:lvl4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4pPr>
            <a:lvl5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5pPr>
            <a:lvl6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6pPr>
            <a:lvl7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7pPr>
            <a:lvl8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8pPr>
            <a:lvl9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B3A"/>
                </a:solidFill>
                <a:latin typeface="Aptos"/>
                <a:ea typeface="Aptos"/>
                <a:cs typeface="Aptos"/>
              </a:rPr>
              <a:t>analyst queue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EF2A48-D1E5-46B1-8615-267B1A006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0"/>
            <a:ext cx="10744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0E387F-D9B4-4681-B339-81B9DAF85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6247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8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defPPr>
            <a:lvl1pPr>
              <a:defRPr sz="18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1pPr>
            <a:lvl2pPr>
              <a:defRPr sz="18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2pPr>
            <a:lvl3pPr>
              <a:defRPr sz="18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3pPr>
            <a:lvl4pPr>
              <a:defRPr sz="18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4pPr>
            <a:lvl5pPr>
              <a:defRPr sz="18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5pPr>
            <a:lvl6pPr>
              <a:defRPr sz="18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6pPr>
            <a:lvl7pPr>
              <a:defRPr sz="18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7pPr>
            <a:lvl8pPr>
              <a:defRPr sz="18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8pPr>
            <a:lvl9pPr>
              <a:defRPr sz="18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2243A"/>
                </a:solidFill>
                <a:latin typeface="Aptos"/>
                <a:ea typeface="Aptos"/>
                <a:cs typeface="Aptos"/>
              </a:rPr>
              <a:t>800–1000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BF283F-A11B-4F67-936E-B0536C157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5720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B94A48"/>
                </a:solidFill>
                <a:latin typeface="Aptos"/>
                <a:ea typeface="Aptos"/>
                <a:cs typeface="Aptos"/>
              </a:defRPr>
            </a:defPPr>
            <a:lvl1pPr>
              <a:defRPr sz="1650" b="1">
                <a:solidFill>
                  <a:srgbClr val="B94A48"/>
                </a:solidFill>
                <a:latin typeface="Aptos"/>
                <a:ea typeface="Aptos"/>
                <a:cs typeface="Aptos"/>
              </a:defRPr>
            </a:lvl1pPr>
            <a:lvl2pPr>
              <a:defRPr sz="1650" b="1">
                <a:solidFill>
                  <a:srgbClr val="B94A48"/>
                </a:solidFill>
                <a:latin typeface="Aptos"/>
                <a:ea typeface="Aptos"/>
                <a:cs typeface="Aptos"/>
              </a:defRPr>
            </a:lvl2pPr>
            <a:lvl3pPr>
              <a:defRPr sz="1650" b="1">
                <a:solidFill>
                  <a:srgbClr val="B94A48"/>
                </a:solidFill>
                <a:latin typeface="Aptos"/>
                <a:ea typeface="Aptos"/>
                <a:cs typeface="Aptos"/>
              </a:defRPr>
            </a:lvl3pPr>
            <a:lvl4pPr>
              <a:defRPr sz="1650" b="1">
                <a:solidFill>
                  <a:srgbClr val="B94A48"/>
                </a:solidFill>
                <a:latin typeface="Aptos"/>
                <a:ea typeface="Aptos"/>
                <a:cs typeface="Aptos"/>
              </a:defRPr>
            </a:lvl4pPr>
            <a:lvl5pPr>
              <a:defRPr sz="1650" b="1">
                <a:solidFill>
                  <a:srgbClr val="B94A48"/>
                </a:solidFill>
                <a:latin typeface="Aptos"/>
                <a:ea typeface="Aptos"/>
                <a:cs typeface="Aptos"/>
              </a:defRPr>
            </a:lvl5pPr>
            <a:lvl6pPr>
              <a:defRPr sz="1650" b="1">
                <a:solidFill>
                  <a:srgbClr val="B94A48"/>
                </a:solidFill>
                <a:latin typeface="Aptos"/>
                <a:ea typeface="Aptos"/>
                <a:cs typeface="Aptos"/>
              </a:defRPr>
            </a:lvl6pPr>
            <a:lvl7pPr>
              <a:defRPr sz="1650" b="1">
                <a:solidFill>
                  <a:srgbClr val="B94A48"/>
                </a:solidFill>
                <a:latin typeface="Aptos"/>
                <a:ea typeface="Aptos"/>
                <a:cs typeface="Aptos"/>
              </a:defRPr>
            </a:lvl7pPr>
            <a:lvl8pPr>
              <a:defRPr sz="1650" b="1">
                <a:solidFill>
                  <a:srgbClr val="B94A48"/>
                </a:solidFill>
                <a:latin typeface="Aptos"/>
                <a:ea typeface="Aptos"/>
                <a:cs typeface="Aptos"/>
              </a:defRPr>
            </a:lvl8pPr>
            <a:lvl9pPr>
              <a:defRPr sz="1650" b="1">
                <a:solidFill>
                  <a:srgbClr val="B94A4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B94A4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B94A48"/>
                </a:solidFill>
                <a:latin typeface="Aptos"/>
                <a:ea typeface="Aptos"/>
                <a:cs typeface="Aptos"/>
              </a:rPr>
              <a:t>Decline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55606E-FE1C-4130-B359-484EDD4EE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5720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defPPr>
            <a:lvl1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1pPr>
            <a:lvl2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2pPr>
            <a:lvl3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3pPr>
            <a:lvl4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4pPr>
            <a:lvl5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5pPr>
            <a:lvl6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6pPr>
            <a:lvl7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7pPr>
            <a:lvl8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8pPr>
            <a:lvl9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B3A"/>
                </a:solidFill>
                <a:latin typeface="Aptos"/>
                <a:ea typeface="Aptos"/>
                <a:cs typeface="Aptos"/>
              </a:rPr>
              <a:t>block + alert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85AF00-C837-4EB2-A69F-661E01767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48300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35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defPPr>
            <a:lvl1pPr>
              <a:defRPr sz="135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1pPr>
            <a:lvl2pPr>
              <a:defRPr sz="135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2pPr>
            <a:lvl3pPr>
              <a:defRPr sz="135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3pPr>
            <a:lvl4pPr>
              <a:defRPr sz="135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4pPr>
            <a:lvl5pPr>
              <a:defRPr sz="135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5pPr>
            <a:lvl6pPr>
              <a:defRPr sz="135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6pPr>
            <a:lvl7pPr>
              <a:defRPr sz="135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7pPr>
            <a:lvl8pPr>
              <a:defRPr sz="135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8pPr>
            <a:lvl9pPr>
              <a:defRPr sz="135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08C95"/>
                </a:solidFill>
                <a:latin typeface="Aptos"/>
                <a:ea typeface="Aptos"/>
                <a:cs typeface="Aptos"/>
              </a:rPr>
              <a:t>Latency objective: p99 ≤100 ms detection fan-out  |  p99 ≤200 ms end-to-end</a:t>
            </a:r>
          </a:p>
        </p:txBody>
      </p:sp>
    </p:spTree>
    <p:extLst>
      <p:ext uri="{BB962C8B-B14F-4D97-AF65-F5344CB8AC3E}">
        <p14:creationId xmlns:p14="http://schemas.microsoft.com/office/powerpoint/2010/main" val="42350206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DCB44A-F06C-4B20-84B1-B93D87BFB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A08FC9-640F-4201-9B61-4DCA0292C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defPPr>
            <a:lvl1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1pPr>
            <a:lvl2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2pPr>
            <a:lvl3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3pPr>
            <a:lvl4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4pPr>
            <a:lvl5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5pPr>
            <a:lvl6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6pPr>
            <a:lvl7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7pPr>
            <a:lvl8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8pPr>
            <a:lvl9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8C95"/>
                </a:solidFill>
                <a:latin typeface="Aptos"/>
                <a:ea typeface="Aptos"/>
                <a:cs typeface="Aptos"/>
              </a:rPr>
              <a:t>AEGIS | RISK &amp; TECHNOLOGY BOARD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D074AC-F46D-4119-968D-8C49C7A88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defPPr>
            <a:lvl1pPr>
              <a:defRPr sz="27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1pPr>
            <a:lvl2pPr>
              <a:defRPr sz="27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2pPr>
            <a:lvl3pPr>
              <a:defRPr sz="27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3pPr>
            <a:lvl4pPr>
              <a:defRPr sz="27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4pPr>
            <a:lvl5pPr>
              <a:defRPr sz="27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5pPr>
            <a:lvl6pPr>
              <a:defRPr sz="27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6pPr>
            <a:lvl7pPr>
              <a:defRPr sz="27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7pPr>
            <a:lvl8pPr>
              <a:defRPr sz="27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8pPr>
            <a:lvl9pPr>
              <a:defRPr sz="27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2243A"/>
                </a:solidFill>
                <a:latin typeface="Aptos"/>
                <a:ea typeface="Aptos"/>
                <a:cs typeface="Aptos"/>
              </a:rPr>
              <a:t>Fallbacks and security controls contain service failures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142ED9-5CAA-437D-BEAC-F0DAE4580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38875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6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E691DE-A20D-40BA-826C-26BC7E753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817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9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defPPr>
            <a:lvl1pPr>
              <a:defRPr sz="9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1pPr>
            <a:lvl2pPr>
              <a:defRPr sz="9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2pPr>
            <a:lvl3pPr>
              <a:defRPr sz="9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3pPr>
            <a:lvl4pPr>
              <a:defRPr sz="9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4pPr>
            <a:lvl5pPr>
              <a:defRPr sz="9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5pPr>
            <a:lvl6pPr>
              <a:defRPr sz="9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6pPr>
            <a:lvl7pPr>
              <a:defRPr sz="9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7pPr>
            <a:lvl8pPr>
              <a:defRPr sz="9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8pPr>
            <a:lvl9pPr>
              <a:defRPr sz="9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77A"/>
                </a:solidFill>
                <a:latin typeface="Aptos"/>
                <a:ea typeface="Aptos"/>
                <a:cs typeface="Aptos"/>
              </a:rPr>
              <a:t>SHIELDPAY  •  ARCHITECTURE PROPOSAL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042281-5583-452C-9D8A-9DF34E5F2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defPPr>
            <a:lvl1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1pPr>
            <a:lvl2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2pPr>
            <a:lvl3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3pPr>
            <a:lvl4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4pPr>
            <a:lvl5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5pPr>
            <a:lvl6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6pPr>
            <a:lvl7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7pPr>
            <a:lvl8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8pPr>
            <a:lvl9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8C95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EE1801-C2F9-4A14-917B-EE716EFA6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573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5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defPPr>
            <a:lvl1pPr>
              <a:defRPr sz="15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1pPr>
            <a:lvl2pPr>
              <a:defRPr sz="15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2pPr>
            <a:lvl3pPr>
              <a:defRPr sz="15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3pPr>
            <a:lvl4pPr>
              <a:defRPr sz="15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4pPr>
            <a:lvl5pPr>
              <a:defRPr sz="15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5pPr>
            <a:lvl6pPr>
              <a:defRPr sz="15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6pPr>
            <a:lvl7pPr>
              <a:defRPr sz="15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7pPr>
            <a:lvl8pPr>
              <a:defRPr sz="15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8pPr>
            <a:lvl9pPr>
              <a:defRPr sz="15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243A"/>
                </a:solidFill>
                <a:latin typeface="Aptos"/>
                <a:ea typeface="Aptos"/>
                <a:cs typeface="Aptos"/>
              </a:rPr>
              <a:t>Bounded timeouts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600AFD-C7B1-4158-8063-53E75CA42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65735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defPPr>
            <a:lvl1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1pPr>
            <a:lvl2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2pPr>
            <a:lvl3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3pPr>
            <a:lvl4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4pPr>
            <a:lvl5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5pPr>
            <a:lvl6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6pPr>
            <a:lvl7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7pPr>
            <a:lvl8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8pPr>
            <a:lvl9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B3A"/>
                </a:solidFill>
                <a:latin typeface="Aptos"/>
                <a:ea typeface="Aptos"/>
                <a:cs typeface="Aptos"/>
              </a:rPr>
              <a:t>Protect authorization latency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5BA0C0-8DA7-4B46-A5EA-1BB91A9B7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2412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5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defPPr>
            <a:lvl1pPr>
              <a:defRPr sz="15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1pPr>
            <a:lvl2pPr>
              <a:defRPr sz="15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2pPr>
            <a:lvl3pPr>
              <a:defRPr sz="15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3pPr>
            <a:lvl4pPr>
              <a:defRPr sz="15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4pPr>
            <a:lvl5pPr>
              <a:defRPr sz="15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5pPr>
            <a:lvl6pPr>
              <a:defRPr sz="15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6pPr>
            <a:lvl7pPr>
              <a:defRPr sz="15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7pPr>
            <a:lvl8pPr>
              <a:defRPr sz="15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8pPr>
            <a:lvl9pPr>
              <a:defRPr sz="15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243A"/>
                </a:solidFill>
                <a:latin typeface="Aptos"/>
                <a:ea typeface="Aptos"/>
                <a:cs typeface="Aptos"/>
              </a:rPr>
              <a:t>Circuit breakers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968AA1-FD23-421F-8E3D-6B15857B4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24125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defPPr>
            <a:lvl1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1pPr>
            <a:lvl2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2pPr>
            <a:lvl3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3pPr>
            <a:lvl4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4pPr>
            <a:lvl5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5pPr>
            <a:lvl6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6pPr>
            <a:lvl7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7pPr>
            <a:lvl8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8pPr>
            <a:lvl9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B3A"/>
                </a:solidFill>
                <a:latin typeface="Aptos"/>
                <a:ea typeface="Aptos"/>
                <a:cs typeface="Aptos"/>
              </a:rPr>
              <a:t>Stop repeated calls to failed dependencies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033837-466B-4E2A-8A37-3DA4366BA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909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5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defPPr>
            <a:lvl1pPr>
              <a:defRPr sz="15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1pPr>
            <a:lvl2pPr>
              <a:defRPr sz="15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2pPr>
            <a:lvl3pPr>
              <a:defRPr sz="15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3pPr>
            <a:lvl4pPr>
              <a:defRPr sz="15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4pPr>
            <a:lvl5pPr>
              <a:defRPr sz="15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5pPr>
            <a:lvl6pPr>
              <a:defRPr sz="15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6pPr>
            <a:lvl7pPr>
              <a:defRPr sz="15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7pPr>
            <a:lvl8pPr>
              <a:defRPr sz="15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8pPr>
            <a:lvl9pPr>
              <a:defRPr sz="15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243A"/>
                </a:solidFill>
                <a:latin typeface="Aptos"/>
                <a:ea typeface="Aptos"/>
                <a:cs typeface="Aptos"/>
              </a:rPr>
              <a:t>Bulkheads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13B962-9608-4694-A605-C7667906B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9090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defPPr>
            <a:lvl1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1pPr>
            <a:lvl2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2pPr>
            <a:lvl3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3pPr>
            <a:lvl4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4pPr>
            <a:lvl5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5pPr>
            <a:lvl6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6pPr>
            <a:lvl7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7pPr>
            <a:lvl8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8pPr>
            <a:lvl9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B3A"/>
                </a:solidFill>
                <a:latin typeface="Aptos"/>
                <a:ea typeface="Aptos"/>
                <a:cs typeface="Aptos"/>
              </a:rPr>
              <a:t>Keep one dependency from exhausting all capacity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A65EB4-7CDD-45A1-9061-0032062C9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5767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5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defPPr>
            <a:lvl1pPr>
              <a:defRPr sz="15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1pPr>
            <a:lvl2pPr>
              <a:defRPr sz="15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2pPr>
            <a:lvl3pPr>
              <a:defRPr sz="15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3pPr>
            <a:lvl4pPr>
              <a:defRPr sz="15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4pPr>
            <a:lvl5pPr>
              <a:defRPr sz="15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5pPr>
            <a:lvl6pPr>
              <a:defRPr sz="15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6pPr>
            <a:lvl7pPr>
              <a:defRPr sz="15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7pPr>
            <a:lvl8pPr>
              <a:defRPr sz="15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8pPr>
            <a:lvl9pPr>
              <a:defRPr sz="15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2243A"/>
                </a:solidFill>
                <a:latin typeface="Aptos"/>
                <a:ea typeface="Aptos"/>
                <a:cs typeface="Aptos"/>
              </a:rPr>
              <a:t>Explicit degraded mode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C2716C-72F2-4C5C-9D0F-8BE5041D0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257675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defPPr>
            <a:lvl1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1pPr>
            <a:lvl2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2pPr>
            <a:lvl3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3pPr>
            <a:lvl4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4pPr>
            <a:lvl5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5pPr>
            <a:lvl6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6pPr>
            <a:lvl7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7pPr>
            <a:lvl8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8pPr>
            <a:lvl9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B3A"/>
                </a:solidFill>
                <a:latin typeface="Aptos"/>
                <a:ea typeface="Aptos"/>
                <a:cs typeface="Aptos"/>
              </a:rPr>
              <a:t>Record missing signals and apply channel policy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EE17F2-F1F1-407B-84B4-F468BC48D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57800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6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7E1742-55D8-4FD7-A15A-78A542A9A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42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defPPr>
            <a:lvl1pPr>
              <a:defRPr sz="142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1pPr>
            <a:lvl2pPr>
              <a:defRPr sz="142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2pPr>
            <a:lvl3pPr>
              <a:defRPr sz="142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3pPr>
            <a:lvl4pPr>
              <a:defRPr sz="142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4pPr>
            <a:lvl5pPr>
              <a:defRPr sz="142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5pPr>
            <a:lvl6pPr>
              <a:defRPr sz="142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6pPr>
            <a:lvl7pPr>
              <a:defRPr sz="142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7pPr>
            <a:lvl8pPr>
              <a:defRPr sz="142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8pPr>
            <a:lvl9pPr>
              <a:defRPr sz="142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08C95"/>
                </a:solidFill>
                <a:latin typeface="Aptos"/>
                <a:ea typeface="Aptos"/>
                <a:cs typeface="Aptos"/>
              </a:rPr>
              <a:t>mTLS • least privilege • PAN tokenisation • encryption • audit trail • retention controls</a:t>
            </a:r>
          </a:p>
        </p:txBody>
      </p:sp>
    </p:spTree>
    <p:extLst>
      <p:ext uri="{BB962C8B-B14F-4D97-AF65-F5344CB8AC3E}">
        <p14:creationId xmlns:p14="http://schemas.microsoft.com/office/powerpoint/2010/main" val="55665300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853518-FDB9-4846-B6D1-15B6C485A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763AA0-F32D-408E-B835-7488A2D69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defPPr>
            <a:lvl1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1pPr>
            <a:lvl2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2pPr>
            <a:lvl3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3pPr>
            <a:lvl4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4pPr>
            <a:lvl5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5pPr>
            <a:lvl6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6pPr>
            <a:lvl7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7pPr>
            <a:lvl8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8pPr>
            <a:lvl9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8C95"/>
                </a:solidFill>
                <a:latin typeface="Aptos"/>
                <a:ea typeface="Aptos"/>
                <a:cs typeface="Aptos"/>
              </a:rPr>
              <a:t>AEGIS | RISK &amp; TECHNOLOGY BOARD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D7E1E5-4E60-44D1-B7CA-4E50E64E7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defPPr>
            <a:lvl1pPr>
              <a:defRPr sz="27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1pPr>
            <a:lvl2pPr>
              <a:defRPr sz="27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2pPr>
            <a:lvl3pPr>
              <a:defRPr sz="27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3pPr>
            <a:lvl4pPr>
              <a:defRPr sz="27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4pPr>
            <a:lvl5pPr>
              <a:defRPr sz="27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5pPr>
            <a:lvl6pPr>
              <a:defRPr sz="27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6pPr>
            <a:lvl7pPr>
              <a:defRPr sz="27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7pPr>
            <a:lvl8pPr>
              <a:defRPr sz="27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8pPr>
            <a:lvl9pPr>
              <a:defRPr sz="27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2243A"/>
                </a:solidFill>
                <a:latin typeface="Aptos"/>
                <a:ea typeface="Aptos"/>
                <a:cs typeface="Aptos"/>
              </a:rPr>
              <a:t>Migration proceeds through shadow traffic and measured gates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FDB203-9B93-4656-9FC0-0A671C865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38875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6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E9C9C4-6BAA-4FDE-9650-BBFA4F5F4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817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9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defPPr>
            <a:lvl1pPr>
              <a:defRPr sz="9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1pPr>
            <a:lvl2pPr>
              <a:defRPr sz="9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2pPr>
            <a:lvl3pPr>
              <a:defRPr sz="9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3pPr>
            <a:lvl4pPr>
              <a:defRPr sz="9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4pPr>
            <a:lvl5pPr>
              <a:defRPr sz="9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5pPr>
            <a:lvl6pPr>
              <a:defRPr sz="9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6pPr>
            <a:lvl7pPr>
              <a:defRPr sz="9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7pPr>
            <a:lvl8pPr>
              <a:defRPr sz="9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8pPr>
            <a:lvl9pPr>
              <a:defRPr sz="9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77A"/>
                </a:solidFill>
                <a:latin typeface="Aptos"/>
                <a:ea typeface="Aptos"/>
                <a:cs typeface="Aptos"/>
              </a:rPr>
              <a:t>SHIELDPAY  •  ARCHITECTURE PROPOSAL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94FEBF-9FA7-4D03-810F-E44EA8F10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defPPr>
            <a:lvl1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1pPr>
            <a:lvl2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2pPr>
            <a:lvl3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3pPr>
            <a:lvl4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4pPr>
            <a:lvl5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5pPr>
            <a:lvl6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6pPr>
            <a:lvl7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7pPr>
            <a:lvl8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8pPr>
            <a:lvl9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8C95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855A8D-FC72-48BC-B971-EF6096559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954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4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54FB36-2383-48FF-96F4-C22447C84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975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0258E6-9EB4-4F66-AF16-A46205758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7145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5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defPPr>
            <a:lvl1pPr>
              <a:defRPr sz="15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1pPr>
            <a:lvl2pPr>
              <a:defRPr sz="15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2pPr>
            <a:lvl3pPr>
              <a:defRPr sz="15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3pPr>
            <a:lvl4pPr>
              <a:defRPr sz="15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4pPr>
            <a:lvl5pPr>
              <a:defRPr sz="15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5pPr>
            <a:lvl6pPr>
              <a:defRPr sz="15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6pPr>
            <a:lvl7pPr>
              <a:defRPr sz="15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7pPr>
            <a:lvl8pPr>
              <a:defRPr sz="15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8pPr>
            <a:lvl9pPr>
              <a:defRPr sz="15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2243A"/>
                </a:solidFill>
                <a:latin typeface="Aptos"/>
                <a:ea typeface="Aptos"/>
                <a:cs typeface="Aptos"/>
              </a:rPr>
              <a:t>Strangler edge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AEF8F8-BFCC-4DAF-A68C-FF74B9ED8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714500"/>
            <a:ext cx="666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defPPr>
            <a:lvl1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1pPr>
            <a:lvl2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2pPr>
            <a:lvl3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3pPr>
            <a:lvl4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4pPr>
            <a:lvl5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5pPr>
            <a:lvl6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6pPr>
            <a:lvl7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7pPr>
            <a:lvl8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8pPr>
            <a:lvl9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B3A"/>
                </a:solidFill>
                <a:latin typeface="Aptos"/>
                <a:ea typeface="Aptos"/>
                <a:cs typeface="Aptos"/>
              </a:rPr>
              <a:t>Route through an anti-corruption layer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C06E22-B020-4761-B4B9-F1C281A21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6700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4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A86FF3-0452-4CA0-8500-FEC63A053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813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18DFDC-5BCC-4AEB-8441-593A31607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6860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5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defPPr>
            <a:lvl1pPr>
              <a:defRPr sz="15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1pPr>
            <a:lvl2pPr>
              <a:defRPr sz="15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2pPr>
            <a:lvl3pPr>
              <a:defRPr sz="15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3pPr>
            <a:lvl4pPr>
              <a:defRPr sz="15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4pPr>
            <a:lvl5pPr>
              <a:defRPr sz="15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5pPr>
            <a:lvl6pPr>
              <a:defRPr sz="15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6pPr>
            <a:lvl7pPr>
              <a:defRPr sz="15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7pPr>
            <a:lvl8pPr>
              <a:defRPr sz="15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8pPr>
            <a:lvl9pPr>
              <a:defRPr sz="15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2243A"/>
                </a:solidFill>
                <a:latin typeface="Aptos"/>
                <a:ea typeface="Aptos"/>
                <a:cs typeface="Aptos"/>
              </a:rPr>
              <a:t>Shadow score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5B7B73-CDF8-423E-B5F3-CD32581B7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686050"/>
            <a:ext cx="666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defPPr>
            <a:lvl1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1pPr>
            <a:lvl2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2pPr>
            <a:lvl3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3pPr>
            <a:lvl4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4pPr>
            <a:lvl5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5pPr>
            <a:lvl6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6pPr>
            <a:lvl7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7pPr>
            <a:lvl8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8pPr>
            <a:lvl9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B3A"/>
                </a:solidFill>
                <a:latin typeface="Aptos"/>
                <a:ea typeface="Aptos"/>
                <a:cs typeface="Aptos"/>
              </a:rPr>
              <a:t>Compare against monolith without changing outcomes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7D1B66-3B61-4AF7-99BF-78B397872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385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4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7849A4-4DC6-4F57-BE9E-D056798A0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5285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5AF3DB-47B0-4F1B-A3C5-D7C19C51C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6576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5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defPPr>
            <a:lvl1pPr>
              <a:defRPr sz="15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1pPr>
            <a:lvl2pPr>
              <a:defRPr sz="15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2pPr>
            <a:lvl3pPr>
              <a:defRPr sz="15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3pPr>
            <a:lvl4pPr>
              <a:defRPr sz="15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4pPr>
            <a:lvl5pPr>
              <a:defRPr sz="15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5pPr>
            <a:lvl6pPr>
              <a:defRPr sz="15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6pPr>
            <a:lvl7pPr>
              <a:defRPr sz="15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7pPr>
            <a:lvl8pPr>
              <a:defRPr sz="15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8pPr>
            <a:lvl9pPr>
              <a:defRPr sz="15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2243A"/>
                </a:solidFill>
                <a:latin typeface="Aptos"/>
                <a:ea typeface="Aptos"/>
                <a:cs typeface="Aptos"/>
              </a:rPr>
              <a:t>Limited canary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B1DA39-47CB-4653-9E7A-E97C0390F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657600"/>
            <a:ext cx="666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defPPr>
            <a:lvl1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1pPr>
            <a:lvl2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2pPr>
            <a:lvl3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3pPr>
            <a:lvl4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4pPr>
            <a:lvl5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5pPr>
            <a:lvl6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6pPr>
            <a:lvl7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7pPr>
            <a:lvl8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8pPr>
            <a:lvl9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B3A"/>
                </a:solidFill>
                <a:latin typeface="Aptos"/>
                <a:ea typeface="Aptos"/>
                <a:cs typeface="Aptos"/>
              </a:rPr>
              <a:t>Ramp only when latency and fraud outcomes pass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DD845C-0243-4D49-8C17-E960F95EE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1010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4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FAC00C-7D89-41CB-BC44-3FCBD7C72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24400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EB300E-570C-47F9-AE8E-3BDC9E061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291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5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defPPr>
            <a:lvl1pPr>
              <a:defRPr sz="15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1pPr>
            <a:lvl2pPr>
              <a:defRPr sz="15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2pPr>
            <a:lvl3pPr>
              <a:defRPr sz="15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3pPr>
            <a:lvl4pPr>
              <a:defRPr sz="15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4pPr>
            <a:lvl5pPr>
              <a:defRPr sz="15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5pPr>
            <a:lvl6pPr>
              <a:defRPr sz="15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6pPr>
            <a:lvl7pPr>
              <a:defRPr sz="15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7pPr>
            <a:lvl8pPr>
              <a:defRPr sz="15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8pPr>
            <a:lvl9pPr>
              <a:defRPr sz="15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2243A"/>
                </a:solidFill>
                <a:latin typeface="Aptos"/>
                <a:ea typeface="Aptos"/>
                <a:cs typeface="Aptos"/>
              </a:rPr>
              <a:t>Expand / rollback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75A94D-83C3-462C-9308-43DA33662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629150"/>
            <a:ext cx="666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defPPr>
            <a:lvl1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1pPr>
            <a:lvl2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2pPr>
            <a:lvl3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3pPr>
            <a:lvl4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4pPr>
            <a:lvl5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5pPr>
            <a:lvl6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6pPr>
            <a:lvl7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7pPr>
            <a:lvl8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8pPr>
            <a:lvl9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B3A"/>
                </a:solidFill>
                <a:latin typeface="Aptos"/>
                <a:ea typeface="Aptos"/>
                <a:cs typeface="Aptos"/>
              </a:rPr>
              <a:t>Keep rollback path and on-call runbooks ready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C37FD3-A4B1-46A4-98E8-EB7AA9202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1975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35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defPPr>
            <a:lvl1pPr>
              <a:defRPr sz="135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1pPr>
            <a:lvl2pPr>
              <a:defRPr sz="135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2pPr>
            <a:lvl3pPr>
              <a:defRPr sz="135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3pPr>
            <a:lvl4pPr>
              <a:defRPr sz="135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4pPr>
            <a:lvl5pPr>
              <a:defRPr sz="135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5pPr>
            <a:lvl6pPr>
              <a:defRPr sz="135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6pPr>
            <a:lvl7pPr>
              <a:defRPr sz="135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7pPr>
            <a:lvl8pPr>
              <a:defRPr sz="135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8pPr>
            <a:lvl9pPr>
              <a:defRPr sz="135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08C95"/>
                </a:solidFill>
                <a:latin typeface="Aptos"/>
                <a:ea typeface="Aptos"/>
                <a:cs typeface="Aptos"/>
              </a:rPr>
              <a:t>Operational gates: p99 latency • Kafka lag • error budget • drift • fraud loss • false positives</a:t>
            </a:r>
          </a:p>
        </p:txBody>
      </p:sp>
    </p:spTree>
    <p:extLst>
      <p:ext uri="{BB962C8B-B14F-4D97-AF65-F5344CB8AC3E}">
        <p14:creationId xmlns:p14="http://schemas.microsoft.com/office/powerpoint/2010/main" val="95085414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69EE6B-E919-4F6B-B19C-23D8796E6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5FA7C5-329E-47D5-AD30-E8E502F5A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defPPr>
            <a:lvl1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1pPr>
            <a:lvl2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2pPr>
            <a:lvl3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3pPr>
            <a:lvl4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4pPr>
            <a:lvl5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5pPr>
            <a:lvl6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6pPr>
            <a:lvl7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7pPr>
            <a:lvl8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8pPr>
            <a:lvl9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8C95"/>
                </a:solidFill>
                <a:latin typeface="Aptos"/>
                <a:ea typeface="Aptos"/>
                <a:cs typeface="Aptos"/>
              </a:rPr>
              <a:t>AEGIS | RISK &amp; TECHNOLOGY BOARD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E92F0F-F19A-409D-98D1-315F6E9F1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9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27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defPPr>
            <a:lvl1pPr>
              <a:defRPr sz="27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1pPr>
            <a:lvl2pPr>
              <a:defRPr sz="27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2pPr>
            <a:lvl3pPr>
              <a:defRPr sz="27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3pPr>
            <a:lvl4pPr>
              <a:defRPr sz="27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4pPr>
            <a:lvl5pPr>
              <a:defRPr sz="27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5pPr>
            <a:lvl6pPr>
              <a:defRPr sz="27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6pPr>
            <a:lvl7pPr>
              <a:defRPr sz="27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7pPr>
            <a:lvl8pPr>
              <a:defRPr sz="27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8pPr>
            <a:lvl9pPr>
              <a:defRPr sz="27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2243A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2243A"/>
                </a:solidFill>
                <a:latin typeface="Aptos"/>
                <a:ea typeface="Aptos"/>
                <a:cs typeface="Aptos"/>
              </a:rPr>
              <a:t>Approve a bounded pilot with clear evidence gates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283CE3-057D-4251-8D77-6A7802D8B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38875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6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A8E525-EB2E-4E6C-B702-8EE5DBD5F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3817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9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defPPr>
            <a:lvl1pPr>
              <a:defRPr sz="9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1pPr>
            <a:lvl2pPr>
              <a:defRPr sz="9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2pPr>
            <a:lvl3pPr>
              <a:defRPr sz="9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3pPr>
            <a:lvl4pPr>
              <a:defRPr sz="9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4pPr>
            <a:lvl5pPr>
              <a:defRPr sz="9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5pPr>
            <a:lvl6pPr>
              <a:defRPr sz="9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6pPr>
            <a:lvl7pPr>
              <a:defRPr sz="9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7pPr>
            <a:lvl8pPr>
              <a:defRPr sz="9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8pPr>
            <a:lvl9pPr>
              <a:defRPr sz="9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77A"/>
                </a:solidFill>
                <a:latin typeface="Aptos"/>
                <a:ea typeface="Aptos"/>
                <a:cs typeface="Aptos"/>
              </a:rPr>
              <a:t>SHIELDPAY  •  ARCHITECTURE PROPOSAL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F66374-CB61-49CB-AAB3-2C6E3B0CE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defPPr>
            <a:lvl1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1pPr>
            <a:lvl2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2pPr>
            <a:lvl3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3pPr>
            <a:lvl4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4pPr>
            <a:lvl5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5pPr>
            <a:lvl6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6pPr>
            <a:lvl7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7pPr>
            <a:lvl8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8pPr>
            <a:lvl9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8C95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12A5BB-9E95-4F27-B542-029B88CF5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192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05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defPPr>
            <a:lvl1pPr>
              <a:defRPr sz="105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1pPr>
            <a:lvl2pPr>
              <a:defRPr sz="105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2pPr>
            <a:lvl3pPr>
              <a:defRPr sz="105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3pPr>
            <a:lvl4pPr>
              <a:defRPr sz="105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4pPr>
            <a:lvl5pPr>
              <a:defRPr sz="105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5pPr>
            <a:lvl6pPr>
              <a:defRPr sz="105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6pPr>
            <a:lvl7pPr>
              <a:defRPr sz="105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7pPr>
            <a:lvl8pPr>
              <a:defRPr sz="105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8pPr>
            <a:lvl9pPr>
              <a:defRPr sz="105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8C95"/>
                </a:solidFill>
                <a:latin typeface="Aptos"/>
                <a:ea typeface="Aptos"/>
                <a:cs typeface="Aptos"/>
              </a:rPr>
              <a:t>PILOT GATES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93E2AD-7BF2-40AE-9211-272FBF76F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621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909E89-DECE-4FCB-8704-21DB6B36B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76450"/>
            <a:ext cx="10058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defPPr>
            <a:lvl1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1pPr>
            <a:lvl2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2pPr>
            <a:lvl3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3pPr>
            <a:lvl4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4pPr>
            <a:lvl5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5pPr>
            <a:lvl6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6pPr>
            <a:lvl7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7pPr>
            <a:lvl8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8pPr>
            <a:lvl9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B3A"/>
                </a:solidFill>
                <a:latin typeface="Aptos"/>
                <a:ea typeface="Aptos"/>
                <a:cs typeface="Aptos"/>
              </a:rPr>
              <a:t>Demonstrate target p99 under representative peak load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8A98DA-5EFB-4DE7-9406-7091BDF56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479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50D74B-6856-47B8-82E6-969164BA9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62250"/>
            <a:ext cx="10058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defPPr>
            <a:lvl1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1pPr>
            <a:lvl2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2pPr>
            <a:lvl3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3pPr>
            <a:lvl4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4pPr>
            <a:lvl5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5pPr>
            <a:lvl6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6pPr>
            <a:lvl7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7pPr>
            <a:lvl8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8pPr>
            <a:lvl9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B3A"/>
                </a:solidFill>
                <a:latin typeface="Aptos"/>
                <a:ea typeface="Aptos"/>
                <a:cs typeface="Aptos"/>
              </a:rPr>
              <a:t>Reconcile shadow decisions and investigate material disagreements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A72207-5970-4A99-A6A5-C1FB8196F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337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064F46-1E5A-4F17-8650-711230FB9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48050"/>
            <a:ext cx="10058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defPPr>
            <a:lvl1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1pPr>
            <a:lvl2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2pPr>
            <a:lvl3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3pPr>
            <a:lvl4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4pPr>
            <a:lvl5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5pPr>
            <a:lvl6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6pPr>
            <a:lvl7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7pPr>
            <a:lvl8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8pPr>
            <a:lvl9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B3A"/>
                </a:solidFill>
                <a:latin typeface="Aptos"/>
                <a:ea typeface="Aptos"/>
                <a:cs typeface="Aptos"/>
              </a:rPr>
              <a:t>Complete security and jurisdiction-specific compliance review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41248D-3B49-4FD0-B7D6-D351E83AE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95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1467B2-1EC5-45E9-A4EB-1AC29CEE4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33850"/>
            <a:ext cx="10058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defPPr>
            <a:lvl1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1pPr>
            <a:lvl2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2pPr>
            <a:lvl3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3pPr>
            <a:lvl4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4pPr>
            <a:lvl5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5pPr>
            <a:lvl6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6pPr>
            <a:lvl7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7pPr>
            <a:lvl8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8pPr>
            <a:lvl9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72B3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B3A"/>
                </a:solidFill>
                <a:latin typeface="Aptos"/>
                <a:ea typeface="Aptos"/>
                <a:cs typeface="Aptos"/>
              </a:rPr>
              <a:t>Prove fallback, rollback, and regional recovery in rehearsal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5511E1-65BD-4BD7-8331-26B538561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43500"/>
            <a:ext cx="10477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4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9A18C6-A6A2-4D41-8AB0-BDD72813C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57800"/>
            <a:ext cx="10048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Decision requested: authorize discovery and a controlled pilot, then return with measured evidence before traffic expansion.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7B06CD-252D-4572-80A9-0F7E15A77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2455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defPPr>
              <a:defRPr sz="105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defPPr>
            <a:lvl1pPr>
              <a:defRPr sz="105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1pPr>
            <a:lvl2pPr>
              <a:defRPr sz="105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2pPr>
            <a:lvl3pPr>
              <a:defRPr sz="105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3pPr>
            <a:lvl4pPr>
              <a:defRPr sz="105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4pPr>
            <a:lvl5pPr>
              <a:defRPr sz="105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5pPr>
            <a:lvl6pPr>
              <a:defRPr sz="105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6pPr>
            <a:lvl7pPr>
              <a:defRPr sz="105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7pPr>
            <a:lvl8pPr>
              <a:defRPr sz="105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8pPr>
            <a:lvl9pPr>
              <a:defRPr sz="105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267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2677A"/>
                </a:solidFill>
                <a:latin typeface="Aptos"/>
                <a:ea typeface="Aptos"/>
                <a:cs typeface="Aptos"/>
              </a:rPr>
              <a:t>Cost model: ~US$83k/month order-of-magnitude; validate with measured workload and current quotes.</a:t>
            </a:r>
          </a:p>
        </p:txBody>
      </p:sp>
    </p:spTree>
    <p:extLst>
      <p:ext uri="{BB962C8B-B14F-4D97-AF65-F5344CB8AC3E}">
        <p14:creationId xmlns:p14="http://schemas.microsoft.com/office/powerpoint/2010/main" val="2860050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2026-10-21T09:45:52.3630000Z</dcterms:created>
  <dcterms:modified xsi:type="dcterms:W3CDTF">2026-10-21T09:45:52.3640000Z</dcterms:modified>
</coreProperties>
</file>