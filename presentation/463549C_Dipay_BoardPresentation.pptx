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49EB29B-28A9-4418-97B5-76E0D17AF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964887F-EFB5-45C6-9915-2F88A20D6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2DAE05F-2101-4DD5-8CE9-DBA2A6671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DF361C9-C768-4615-BC99-13CB5D750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7149680-2252-4666-B24C-596148B99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1A87AB1-C30E-4B5C-BF9B-3CDE47855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3CA4A72-232B-4005-9251-CECF2539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830053C-E3EE-4EC0-8C79-A143A847726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2AD66B7-1946-4D6D-94C1-4C8BE731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42EBBA0-5712-4EEC-B64C-5E4048CB9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C4D89C6-3CB9-4AE3-A300-3C9E5AC8D7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8C9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672411-6709-4530-8A28-84F5EAA76626}"/>
              </a:ext>
            </a:extLst>
          </p:cNvPr>
          <p:cNvSpPr>
            <a:spLocks noGrp="1"/>
          </p:cNvSpPr>
          <p:nvPr/>
        </p:nvSpPr>
        <p:spPr>
          <a:xfrm>
            <a:off x="704850" y="72390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3D3D1"/>
                </a:solidFill>
                <a:latin typeface="Aptos"/>
                <a:ea typeface="Aptos"/>
                <a:cs typeface="Aptos"/>
              </a:rPr>
              <a:t>SHIELDPAY  |  RISK &amp; TECHNOLOGY 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67301-7203-46D5-B4C7-C50E262B6145}"/>
              </a:ext>
            </a:extLst>
          </p:cNvPr>
          <p:cNvSpPr>
            <a:spLocks noGrp="1"/>
          </p:cNvSpPr>
          <p:nvPr/>
        </p:nvSpPr>
        <p:spPr>
          <a:xfrm>
            <a:off x="704850" y="1562100"/>
            <a:ext cx="6572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Aegis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FD817D-4959-4A56-B1FC-E61E0F9DB55B}"/>
              </a:ext>
            </a:extLst>
          </p:cNvPr>
          <p:cNvSpPr>
            <a:spLocks noGrp="1"/>
          </p:cNvSpPr>
          <p:nvPr/>
        </p:nvSpPr>
        <p:spPr>
          <a:xfrm>
            <a:off x="704850" y="2524125"/>
            <a:ext cx="819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Real-Time Fraud Detection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EEC9DC-1E33-429E-90BB-6583A2664222}"/>
              </a:ext>
            </a:extLst>
          </p:cNvPr>
          <p:cNvSpPr>
            <a:spLocks noGrp="1"/>
          </p:cNvSpPr>
          <p:nvPr/>
        </p:nvSpPr>
        <p:spPr>
          <a:xfrm>
            <a:off x="723900" y="340995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8C8D4"/>
                </a:solidFill>
                <a:latin typeface="Aptos"/>
                <a:ea typeface="Aptos"/>
                <a:cs typeface="Aptos"/>
              </a:rPr>
              <a:t>A 15-minute architecture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E4E1E-1F20-4F91-90EE-957575D697EF}"/>
              </a:ext>
            </a:extLst>
          </p:cNvPr>
          <p:cNvSpPr>
            <a:spLocks noGrp="1"/>
          </p:cNvSpPr>
          <p:nvPr/>
        </p:nvSpPr>
        <p:spPr>
          <a:xfrm>
            <a:off x="723900" y="4133850"/>
            <a:ext cx="1047750" cy="38100"/>
          </a:xfrm>
          <a:prstGeom prst="rect">
            <a:avLst/>
          </a:prstGeom>
          <a:solidFill>
            <a:srgbClr val="008C95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41C1E5-026E-4D56-8214-079870E2EECA}"/>
              </a:ext>
            </a:extLst>
          </p:cNvPr>
          <p:cNvSpPr>
            <a:spLocks noGrp="1"/>
          </p:cNvSpPr>
          <p:nvPr/>
        </p:nvSpPr>
        <p:spPr>
          <a:xfrm>
            <a:off x="733732" y="5407742"/>
            <a:ext cx="8572500" cy="8692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pPr>
            <a:r>
              <a:rPr lang="en-IN" sz="1400" dirty="0"/>
              <a:t>By Dipayan Nandi</a:t>
            </a:r>
            <a:endParaRPr sz="1400" b="0" dirty="0">
              <a:solidFill>
                <a:srgbClr val="B8C8D4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2646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F207011-C666-474F-8978-7219E3C660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8C9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0DB3C-B5E0-4F14-BB52-96907B21E678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AEGIS | RISK &amp; TECHNOLOGY 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A10B01-8337-4701-A8D2-DA35FD7E40FF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The current scoring gap raises loss and control risk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EFA485-6FE0-4D98-A038-EF485721399F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9525"/>
          </a:xfrm>
          <a:prstGeom prst="rect">
            <a:avLst/>
          </a:prstGeom>
          <a:solidFill>
            <a:srgbClr val="CCD6DE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B035E-13AE-4A0E-8942-9E83952328F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SHIELDPAY  •  ARCHITECTURE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61BA57-F546-4D84-AB9E-71FBC7817CB4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4149E-0E48-4BE1-B73D-2048218DC844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77A"/>
                </a:solidFill>
                <a:latin typeface="Aptos"/>
                <a:ea typeface="Aptos"/>
                <a:cs typeface="Aptos"/>
              </a:rPr>
              <a:t>BRIEF BASELINE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9D69D4-B8E9-45C2-92C9-2CB1B2326D8B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2.4M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8FE23B-66B0-4878-BD82-AA09D9D2328F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transactions per day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3197A3-CD78-4BF1-9A24-8C8DC543628D}"/>
              </a:ext>
            </a:extLst>
          </p:cNvPr>
          <p:cNvSpPr>
            <a:spLocks noGrp="1"/>
          </p:cNvSpPr>
          <p:nvPr/>
        </p:nvSpPr>
        <p:spPr>
          <a:xfrm>
            <a:off x="4286250" y="203835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defPPr>
            <a:lvl1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1pPr>
            <a:lvl2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2pPr>
            <a:lvl3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3pPr>
            <a:lvl4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4pPr>
            <a:lvl5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5pPr>
            <a:lvl6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6pPr>
            <a:lvl7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7pPr>
            <a:lvl8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8pPr>
            <a:lvl9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D88928"/>
                </a:solidFill>
                <a:latin typeface="Aptos"/>
                <a:ea typeface="Aptos"/>
                <a:cs typeface="Aptos"/>
              </a:rPr>
              <a:t>+340%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2D4668-2942-46FC-8AC9-E8B9DF433231}"/>
              </a:ext>
            </a:extLst>
          </p:cNvPr>
          <p:cNvSpPr>
            <a:spLocks noGrp="1"/>
          </p:cNvSpPr>
          <p:nvPr/>
        </p:nvSpPr>
        <p:spPr>
          <a:xfrm>
            <a:off x="4305300" y="27241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fraud attempts in Q3 2025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D0A348-8803-432C-8007-5F3F9A66BF81}"/>
              </a:ext>
            </a:extLst>
          </p:cNvPr>
          <p:cNvSpPr>
            <a:spLocks noGrp="1"/>
          </p:cNvSpPr>
          <p:nvPr/>
        </p:nvSpPr>
        <p:spPr>
          <a:xfrm>
            <a:off x="8286750" y="2038350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₹12 → ₹53 cr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69772D-25C2-471D-9E8E-866A9C32771D}"/>
              </a:ext>
            </a:extLst>
          </p:cNvPr>
          <p:cNvSpPr>
            <a:spLocks noGrp="1"/>
          </p:cNvSpPr>
          <p:nvPr/>
        </p:nvSpPr>
        <p:spPr>
          <a:xfrm>
            <a:off x="8324850" y="27241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quarterly fraud losses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577169-6859-4C12-BB44-B55216E9968D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10839450" cy="19050"/>
          </a:xfrm>
          <a:prstGeom prst="rect">
            <a:avLst/>
          </a:prstGeom>
          <a:solidFill>
            <a:srgbClr val="CCD6DE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EB82CC-3038-49CF-B21B-250F4896D3B6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15-minute batch scoring gap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C48428-798D-418D-A002-52950F293D01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1000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Fraud signals can arrive and act before the next scheduled score. The proposal moves risk checks into the authorization path.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98B446-2F2D-4D50-B57F-73289CDBF289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Targets in the brief: &gt;95% detection  •  &lt;0.5% false positives</a:t>
            </a:r>
          </a:p>
        </p:txBody>
      </p:sp>
    </p:spTree>
    <p:extLst>
      <p:ext uri="{BB962C8B-B14F-4D97-AF65-F5344CB8AC3E}">
        <p14:creationId xmlns:p14="http://schemas.microsoft.com/office/powerpoint/2010/main" val="1964075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BA572F9-F8E6-4060-BE1F-42E5BAD786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8C9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CAB79D-D3D6-449C-97E2-A3AA4D36542C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AEGIS | RISK &amp; TECHNOLOGY 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BD592D-0186-4DF3-9C73-F2DEC19D9D2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Aegis separates decisioning, data ownership, and failure domains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F0E742-57C7-45E9-ACDE-B0D62422B946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9525"/>
          </a:xfrm>
          <a:prstGeom prst="rect">
            <a:avLst/>
          </a:prstGeom>
          <a:solidFill>
            <a:srgbClr val="CCD6DE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1A0F46-FA3F-4BDC-B3DB-0033D4BBC71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SHIELDPAY  •  ARCHITECTURE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DB191E-54DC-4AFD-AAA8-7FFEB8F45C18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20CD9-23F5-4AD9-87EE-18C46532992F}"/>
              </a:ext>
            </a:extLst>
          </p:cNvPr>
          <p:cNvSpPr>
            <a:spLocks noGrp="1"/>
          </p:cNvSpPr>
          <p:nvPr/>
        </p:nvSpPr>
        <p:spPr>
          <a:xfrm>
            <a:off x="714375" y="2324100"/>
            <a:ext cx="1866900" cy="12763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7CAC8C-3777-46D4-A0B2-98CF0141DE3C}"/>
              </a:ext>
            </a:extLst>
          </p:cNvPr>
          <p:cNvSpPr>
            <a:spLocks noGrp="1"/>
          </p:cNvSpPr>
          <p:nvPr/>
        </p:nvSpPr>
        <p:spPr>
          <a:xfrm>
            <a:off x="714375" y="2324100"/>
            <a:ext cx="1866900" cy="76200"/>
          </a:xfrm>
          <a:prstGeom prst="rect">
            <a:avLst/>
          </a:prstGeom>
          <a:solidFill>
            <a:srgbClr val="2673B8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87605B-2C96-4982-9C20-8C37D84E8EC0}"/>
              </a:ext>
            </a:extLst>
          </p:cNvPr>
          <p:cNvSpPr>
            <a:spLocks noGrp="1"/>
          </p:cNvSpPr>
          <p:nvPr/>
        </p:nvSpPr>
        <p:spPr>
          <a:xfrm>
            <a:off x="847725" y="2590800"/>
            <a:ext cx="1600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C2441D-53F6-4E4A-A27E-72690D1044DA}"/>
              </a:ext>
            </a:extLst>
          </p:cNvPr>
          <p:cNvSpPr>
            <a:spLocks noGrp="1"/>
          </p:cNvSpPr>
          <p:nvPr/>
        </p:nvSpPr>
        <p:spPr>
          <a:xfrm>
            <a:off x="847725" y="3009900"/>
            <a:ext cx="1600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Normalize • tokenize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4D8E14-F6B5-4157-8111-537F9FAA8C26}"/>
              </a:ext>
            </a:extLst>
          </p:cNvPr>
          <p:cNvSpPr>
            <a:spLocks noGrp="1"/>
          </p:cNvSpPr>
          <p:nvPr/>
        </p:nvSpPr>
        <p:spPr>
          <a:xfrm>
            <a:off x="2609850" y="2771775"/>
            <a:ext cx="361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5267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54E45-F0E5-48A0-AB15-79025940C99A}"/>
              </a:ext>
            </a:extLst>
          </p:cNvPr>
          <p:cNvSpPr>
            <a:spLocks noGrp="1"/>
          </p:cNvSpPr>
          <p:nvPr/>
        </p:nvSpPr>
        <p:spPr>
          <a:xfrm>
            <a:off x="2867025" y="2324100"/>
            <a:ext cx="1866900" cy="12763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26AA67-068F-44E7-8963-DAE4F84BC930}"/>
              </a:ext>
            </a:extLst>
          </p:cNvPr>
          <p:cNvSpPr>
            <a:spLocks noGrp="1"/>
          </p:cNvSpPr>
          <p:nvPr/>
        </p:nvSpPr>
        <p:spPr>
          <a:xfrm>
            <a:off x="2867025" y="2324100"/>
            <a:ext cx="1866900" cy="76200"/>
          </a:xfrm>
          <a:prstGeom prst="rect">
            <a:avLst/>
          </a:prstGeom>
          <a:solidFill>
            <a:srgbClr val="2673B8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C06D49-94D1-4807-A2B3-9D8516368EE1}"/>
              </a:ext>
            </a:extLst>
          </p:cNvPr>
          <p:cNvSpPr>
            <a:spLocks noGrp="1"/>
          </p:cNvSpPr>
          <p:nvPr/>
        </p:nvSpPr>
        <p:spPr>
          <a:xfrm>
            <a:off x="3000375" y="2590800"/>
            <a:ext cx="1600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ENRICH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D71EF5-D9E6-4CA6-9F39-5184139F5958}"/>
              </a:ext>
            </a:extLst>
          </p:cNvPr>
          <p:cNvSpPr>
            <a:spLocks noGrp="1"/>
          </p:cNvSpPr>
          <p:nvPr/>
        </p:nvSpPr>
        <p:spPr>
          <a:xfrm>
            <a:off x="3000375" y="3009900"/>
            <a:ext cx="1600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Profile • device • geo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2EF101-9A5C-45C9-BBCF-FE0FFAB5BF95}"/>
              </a:ext>
            </a:extLst>
          </p:cNvPr>
          <p:cNvSpPr>
            <a:spLocks noGrp="1"/>
          </p:cNvSpPr>
          <p:nvPr/>
        </p:nvSpPr>
        <p:spPr>
          <a:xfrm>
            <a:off x="4762500" y="2771775"/>
            <a:ext cx="361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5267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F1968A-41A1-4463-A14D-AAD2E8C910BA}"/>
              </a:ext>
            </a:extLst>
          </p:cNvPr>
          <p:cNvSpPr>
            <a:spLocks noGrp="1"/>
          </p:cNvSpPr>
          <p:nvPr/>
        </p:nvSpPr>
        <p:spPr>
          <a:xfrm>
            <a:off x="5019675" y="2324100"/>
            <a:ext cx="1866900" cy="1276350"/>
          </a:xfrm>
          <a:prstGeom prst="rect">
            <a:avLst/>
          </a:prstGeom>
          <a:solidFill>
            <a:srgbClr val="E5F2F3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3AD4A8-3678-45BE-8B00-182AE9AA1B6A}"/>
              </a:ext>
            </a:extLst>
          </p:cNvPr>
          <p:cNvSpPr>
            <a:spLocks noGrp="1"/>
          </p:cNvSpPr>
          <p:nvPr/>
        </p:nvSpPr>
        <p:spPr>
          <a:xfrm>
            <a:off x="5019675" y="2324100"/>
            <a:ext cx="1866900" cy="76200"/>
          </a:xfrm>
          <a:prstGeom prst="rect">
            <a:avLst/>
          </a:prstGeom>
          <a:solidFill>
            <a:srgbClr val="008C95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13DB77-E33B-42E7-9031-A25CE2837E79}"/>
              </a:ext>
            </a:extLst>
          </p:cNvPr>
          <p:cNvSpPr>
            <a:spLocks noGrp="1"/>
          </p:cNvSpPr>
          <p:nvPr/>
        </p:nvSpPr>
        <p:spPr>
          <a:xfrm>
            <a:off x="5153025" y="2590800"/>
            <a:ext cx="1600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DETECT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661360-4212-4334-B092-A93FB1489139}"/>
              </a:ext>
            </a:extLst>
          </p:cNvPr>
          <p:cNvSpPr>
            <a:spLocks noGrp="1"/>
          </p:cNvSpPr>
          <p:nvPr/>
        </p:nvSpPr>
        <p:spPr>
          <a:xfrm>
            <a:off x="5153025" y="3009900"/>
            <a:ext cx="1600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Rules • ML • graph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14D9A4-6F91-4B6B-8443-152215EF7DDF}"/>
              </a:ext>
            </a:extLst>
          </p:cNvPr>
          <p:cNvSpPr>
            <a:spLocks noGrp="1"/>
          </p:cNvSpPr>
          <p:nvPr/>
        </p:nvSpPr>
        <p:spPr>
          <a:xfrm>
            <a:off x="6915150" y="2771775"/>
            <a:ext cx="361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5267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8B84D4-8DE4-49F7-947A-0E19F5579523}"/>
              </a:ext>
            </a:extLst>
          </p:cNvPr>
          <p:cNvSpPr>
            <a:spLocks noGrp="1"/>
          </p:cNvSpPr>
          <p:nvPr/>
        </p:nvSpPr>
        <p:spPr>
          <a:xfrm>
            <a:off x="7172325" y="2324100"/>
            <a:ext cx="1866900" cy="12763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46B658-F24C-40DC-85A5-E953802F809C}"/>
              </a:ext>
            </a:extLst>
          </p:cNvPr>
          <p:cNvSpPr>
            <a:spLocks noGrp="1"/>
          </p:cNvSpPr>
          <p:nvPr/>
        </p:nvSpPr>
        <p:spPr>
          <a:xfrm>
            <a:off x="7172325" y="2324100"/>
            <a:ext cx="1866900" cy="76200"/>
          </a:xfrm>
          <a:prstGeom prst="rect">
            <a:avLst/>
          </a:prstGeom>
          <a:solidFill>
            <a:srgbClr val="2673B8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9FD2D1-521D-49CE-8D6C-FD7454F35000}"/>
              </a:ext>
            </a:extLst>
          </p:cNvPr>
          <p:cNvSpPr>
            <a:spLocks noGrp="1"/>
          </p:cNvSpPr>
          <p:nvPr/>
        </p:nvSpPr>
        <p:spPr>
          <a:xfrm>
            <a:off x="7305675" y="2590800"/>
            <a:ext cx="1600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9EA074-B671-445D-9C32-B267E766694F}"/>
              </a:ext>
            </a:extLst>
          </p:cNvPr>
          <p:cNvSpPr>
            <a:spLocks noGrp="1"/>
          </p:cNvSpPr>
          <p:nvPr/>
        </p:nvSpPr>
        <p:spPr>
          <a:xfrm>
            <a:off x="7305675" y="3009900"/>
            <a:ext cx="1600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Score • explain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0205A8-3966-4C45-A05D-5F260EA7B3D7}"/>
              </a:ext>
            </a:extLst>
          </p:cNvPr>
          <p:cNvSpPr>
            <a:spLocks noGrp="1"/>
          </p:cNvSpPr>
          <p:nvPr/>
        </p:nvSpPr>
        <p:spPr>
          <a:xfrm>
            <a:off x="9067800" y="2771775"/>
            <a:ext cx="361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5267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334967-BF28-454D-869F-F91993C1FC98}"/>
              </a:ext>
            </a:extLst>
          </p:cNvPr>
          <p:cNvSpPr>
            <a:spLocks noGrp="1"/>
          </p:cNvSpPr>
          <p:nvPr/>
        </p:nvSpPr>
        <p:spPr>
          <a:xfrm>
            <a:off x="9324975" y="2324100"/>
            <a:ext cx="1866900" cy="12763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BD002A-68C2-42A0-B68A-91D41A1E1BB6}"/>
              </a:ext>
            </a:extLst>
          </p:cNvPr>
          <p:cNvSpPr>
            <a:spLocks noGrp="1"/>
          </p:cNvSpPr>
          <p:nvPr/>
        </p:nvSpPr>
        <p:spPr>
          <a:xfrm>
            <a:off x="9324975" y="2324100"/>
            <a:ext cx="1866900" cy="76200"/>
          </a:xfrm>
          <a:prstGeom prst="rect">
            <a:avLst/>
          </a:prstGeom>
          <a:solidFill>
            <a:srgbClr val="2673B8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74DC7E-B234-4BDC-A0D9-FF6E2E53BF93}"/>
              </a:ext>
            </a:extLst>
          </p:cNvPr>
          <p:cNvSpPr>
            <a:spLocks noGrp="1"/>
          </p:cNvSpPr>
          <p:nvPr/>
        </p:nvSpPr>
        <p:spPr>
          <a:xfrm>
            <a:off x="9458325" y="2590800"/>
            <a:ext cx="1600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RESPOND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F69A54-342F-462A-BDA4-DF94B58B82DD}"/>
              </a:ext>
            </a:extLst>
          </p:cNvPr>
          <p:cNvSpPr>
            <a:spLocks noGrp="1"/>
          </p:cNvSpPr>
          <p:nvPr/>
        </p:nvSpPr>
        <p:spPr>
          <a:xfrm>
            <a:off x="9458325" y="3009900"/>
            <a:ext cx="1600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Notify • case • audit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D40313-AFE3-42AF-B8BB-26749C730C64}"/>
              </a:ext>
            </a:extLst>
          </p:cNvPr>
          <p:cNvSpPr>
            <a:spLocks noGrp="1"/>
          </p:cNvSpPr>
          <p:nvPr/>
        </p:nvSpPr>
        <p:spPr>
          <a:xfrm>
            <a:off x="714375" y="4191000"/>
            <a:ext cx="1038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12 bounded contexts • Kafka event backbone • REST/gRPC contracts • independent stores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7B2F4F-712A-4C80-884B-67488686D8A5}"/>
              </a:ext>
            </a:extLst>
          </p:cNvPr>
          <p:cNvSpPr>
            <a:spLocks noGrp="1"/>
          </p:cNvSpPr>
          <p:nvPr/>
        </p:nvSpPr>
        <p:spPr>
          <a:xfrm>
            <a:off x="714375" y="487680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See C4 UML source: diagrams/c4_level1_system_context.puml and c4_level2_container.puml</a:t>
            </a:r>
          </a:p>
        </p:txBody>
      </p:sp>
    </p:spTree>
    <p:extLst>
      <p:ext uri="{BB962C8B-B14F-4D97-AF65-F5344CB8AC3E}">
        <p14:creationId xmlns:p14="http://schemas.microsoft.com/office/powerpoint/2010/main" val="865851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65F36D3-1397-43AD-AB6A-95F7B97D9C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8C9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8F1B98-CF49-4CAC-A226-14E75F5E0BB9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AEGIS | RISK &amp; TECHNOLOGY 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CD008E-C93C-47F0-B1BC-E3775254582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Three signal families produce one explainable decision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0ECD17-8CF7-4EA7-AB32-FEBD81ABAF2A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9525"/>
          </a:xfrm>
          <a:prstGeom prst="rect">
            <a:avLst/>
          </a:prstGeom>
          <a:solidFill>
            <a:srgbClr val="CCD6DE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113352-AC3F-4CF5-BAD0-121886DE2EE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SHIELDPAY  •  ARCHITECTURE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EBC1CB-B2CD-4AD4-9513-12436547B295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585FC0-0DC7-4951-9360-2DFEE734EEE1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3333750" cy="2238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9D173D-5406-4078-A1E0-18CFF999D21C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3333750" cy="76200"/>
          </a:xfrm>
          <a:prstGeom prst="rect">
            <a:avLst/>
          </a:prstGeom>
          <a:solidFill>
            <a:srgbClr val="2673B8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23A092-A57B-4AF5-9A88-817D7C94DFDD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673B8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727AA2-62EF-4014-92E4-A8ED743C88D0}"/>
              </a:ext>
            </a:extLst>
          </p:cNvPr>
          <p:cNvSpPr>
            <a:spLocks noGrp="1"/>
          </p:cNvSpPr>
          <p:nvPr/>
        </p:nvSpPr>
        <p:spPr>
          <a:xfrm>
            <a:off x="933450" y="26860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Known patterns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535A40-F8C7-4182-A389-38D4260E08D1}"/>
              </a:ext>
            </a:extLst>
          </p:cNvPr>
          <p:cNvSpPr>
            <a:spLocks noGrp="1"/>
          </p:cNvSpPr>
          <p:nvPr/>
        </p:nvSpPr>
        <p:spPr>
          <a:xfrm>
            <a:off x="933450" y="320992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Versioned conditions, velocity limits, blocks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1FD3F4-4304-40C2-B194-4818BEF7407F}"/>
              </a:ext>
            </a:extLst>
          </p:cNvPr>
          <p:cNvSpPr>
            <a:spLocks noGrp="1"/>
          </p:cNvSpPr>
          <p:nvPr/>
        </p:nvSpPr>
        <p:spPr>
          <a:xfrm>
            <a:off x="4362450" y="1981200"/>
            <a:ext cx="3333750" cy="2238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2D0C7C-0C13-438B-9098-7302101E2267}"/>
              </a:ext>
            </a:extLst>
          </p:cNvPr>
          <p:cNvSpPr>
            <a:spLocks noGrp="1"/>
          </p:cNvSpPr>
          <p:nvPr/>
        </p:nvSpPr>
        <p:spPr>
          <a:xfrm>
            <a:off x="4362450" y="1981200"/>
            <a:ext cx="3333750" cy="76200"/>
          </a:xfrm>
          <a:prstGeom prst="rect">
            <a:avLst/>
          </a:prstGeom>
          <a:solidFill>
            <a:srgbClr val="008C95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8828BB-7150-49CE-B3FD-20A2B707EAF9}"/>
              </a:ext>
            </a:extLst>
          </p:cNvPr>
          <p:cNvSpPr>
            <a:spLocks noGrp="1"/>
          </p:cNvSpPr>
          <p:nvPr/>
        </p:nvSpPr>
        <p:spPr>
          <a:xfrm>
            <a:off x="4572000" y="2266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ANOMALY / ML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113931-6C6C-404A-9425-D639913040EB}"/>
              </a:ext>
            </a:extLst>
          </p:cNvPr>
          <p:cNvSpPr>
            <a:spLocks noGrp="1"/>
          </p:cNvSpPr>
          <p:nvPr/>
        </p:nvSpPr>
        <p:spPr>
          <a:xfrm>
            <a:off x="4572000" y="26860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Unusual behavior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8A67AC-E90E-40AF-A80A-4E48875292B0}"/>
              </a:ext>
            </a:extLst>
          </p:cNvPr>
          <p:cNvSpPr>
            <a:spLocks noGrp="1"/>
          </p:cNvSpPr>
          <p:nvPr/>
        </p:nvSpPr>
        <p:spPr>
          <a:xfrm>
            <a:off x="4572000" y="320992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Online features, model score, drift checks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6BB7E2-D8F2-45BC-8CBF-8B90C99D5367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3333750" cy="2238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76C839-80BB-4D11-AB64-9AB40FFBC5C4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3333750" cy="76200"/>
          </a:xfrm>
          <a:prstGeom prst="rect">
            <a:avLst/>
          </a:prstGeom>
          <a:solidFill>
            <a:srgbClr val="D88928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0C0037-CD5D-4E84-8CB7-60B857014584}"/>
              </a:ext>
            </a:extLst>
          </p:cNvPr>
          <p:cNvSpPr>
            <a:spLocks noGrp="1"/>
          </p:cNvSpPr>
          <p:nvPr/>
        </p:nvSpPr>
        <p:spPr>
          <a:xfrm>
            <a:off x="8210550" y="2266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8928"/>
                </a:solidFill>
                <a:latin typeface="Aptos"/>
                <a:ea typeface="Aptos"/>
                <a:cs typeface="Aptos"/>
              </a:rPr>
              <a:t>GRAPH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5DB7A7-393D-47DB-BFEC-042E8FDD54E1}"/>
              </a:ext>
            </a:extLst>
          </p:cNvPr>
          <p:cNvSpPr>
            <a:spLocks noGrp="1"/>
          </p:cNvSpPr>
          <p:nvPr/>
        </p:nvSpPr>
        <p:spPr>
          <a:xfrm>
            <a:off x="8210550" y="26860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Connected risk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3DF28D-6DB1-4580-BB6A-A9492A51DFED}"/>
              </a:ext>
            </a:extLst>
          </p:cNvPr>
          <p:cNvSpPr>
            <a:spLocks noGrp="1"/>
          </p:cNvSpPr>
          <p:nvPr/>
        </p:nvSpPr>
        <p:spPr>
          <a:xfrm>
            <a:off x="8210550" y="320992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Shared devices, mule paths, ring indicators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82A5F7-F746-4EB4-9F03-9C05BA85CAC8}"/>
              </a:ext>
            </a:extLst>
          </p:cNvPr>
          <p:cNvSpPr>
            <a:spLocks noGrp="1"/>
          </p:cNvSpPr>
          <p:nvPr/>
        </p:nvSpPr>
        <p:spPr>
          <a:xfrm>
            <a:off x="723900" y="464820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Risk Scoring combines bounded signals into a 0–1000 score with reasons and version references.</a:t>
            </a:r>
          </a:p>
        </p:txBody>
      </p:sp>
    </p:spTree>
    <p:extLst>
      <p:ext uri="{BB962C8B-B14F-4D97-AF65-F5344CB8AC3E}">
        <p14:creationId xmlns:p14="http://schemas.microsoft.com/office/powerpoint/2010/main" val="1570627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F65C907-B532-482A-8E78-FE4644972A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8C9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CEB8FB-4D9A-4F00-B3F0-9C1DF21B259A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AEGIS | RISK &amp; TECHNOLOGY 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87220F-9E09-4746-96F5-D04B7337CA5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Decision thresholds match the response to risk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C43C1-1217-4771-B4FC-6423FC043E03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9525"/>
          </a:xfrm>
          <a:prstGeom prst="rect">
            <a:avLst/>
          </a:prstGeom>
          <a:solidFill>
            <a:srgbClr val="CCD6DE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CD2414-F15D-41F1-B532-6BB78216954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SHIELDPAY  •  ARCHITECTURE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A7724B-1802-4A89-81C4-E765C618204E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A84523-CE02-4870-AEE7-5E6A75C89996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10744200" cy="685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8B697E-2CB9-4BA6-A7FB-4C2A40B00B6A}"/>
              </a:ext>
            </a:extLst>
          </p:cNvPr>
          <p:cNvSpPr>
            <a:spLocks noGrp="1"/>
          </p:cNvSpPr>
          <p:nvPr/>
        </p:nvSpPr>
        <p:spPr>
          <a:xfrm>
            <a:off x="933450" y="193357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0–199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6B48A9-9CC7-4633-AA07-2D20207E5A1C}"/>
              </a:ext>
            </a:extLst>
          </p:cNvPr>
          <p:cNvSpPr>
            <a:spLocks noGrp="1"/>
          </p:cNvSpPr>
          <p:nvPr/>
        </p:nvSpPr>
        <p:spPr>
          <a:xfrm>
            <a:off x="3238500" y="19431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D73C0E-F30C-4E7B-B5A1-F4C77B38EDAC}"/>
              </a:ext>
            </a:extLst>
          </p:cNvPr>
          <p:cNvSpPr>
            <a:spLocks noGrp="1"/>
          </p:cNvSpPr>
          <p:nvPr/>
        </p:nvSpPr>
        <p:spPr>
          <a:xfrm>
            <a:off x="5905500" y="19431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normal authorization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A357EC-B144-4CD7-B091-C9FF10BDA687}"/>
              </a:ext>
            </a:extLst>
          </p:cNvPr>
          <p:cNvSpPr>
            <a:spLocks noGrp="1"/>
          </p:cNvSpPr>
          <p:nvPr/>
        </p:nvSpPr>
        <p:spPr>
          <a:xfrm>
            <a:off x="723900" y="2628900"/>
            <a:ext cx="10744200" cy="685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101AF9-93D9-43E5-82D8-312BD60EA3AE}"/>
              </a:ext>
            </a:extLst>
          </p:cNvPr>
          <p:cNvSpPr>
            <a:spLocks noGrp="1"/>
          </p:cNvSpPr>
          <p:nvPr/>
        </p:nvSpPr>
        <p:spPr>
          <a:xfrm>
            <a:off x="933450" y="280987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200–599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5802BF-4E27-4A50-A477-5E25933C3F83}"/>
              </a:ext>
            </a:extLst>
          </p:cNvPr>
          <p:cNvSpPr>
            <a:spLocks noGrp="1"/>
          </p:cNvSpPr>
          <p:nvPr/>
        </p:nvSpPr>
        <p:spPr>
          <a:xfrm>
            <a:off x="3238500" y="28194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673B8"/>
                </a:solidFill>
                <a:latin typeface="Aptos"/>
                <a:ea typeface="Aptos"/>
                <a:cs typeface="Aptos"/>
              </a:rPr>
              <a:t>Step up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AFD564-7766-4D9A-ADAE-C08F65CBCEA5}"/>
              </a:ext>
            </a:extLst>
          </p:cNvPr>
          <p:cNvSpPr>
            <a:spLocks noGrp="1"/>
          </p:cNvSpPr>
          <p:nvPr/>
        </p:nvSpPr>
        <p:spPr>
          <a:xfrm>
            <a:off x="5905500" y="28194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OTP / biometric challenge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33B89A-6603-4634-85BC-190436D4CF04}"/>
              </a:ext>
            </a:extLst>
          </p:cNvPr>
          <p:cNvSpPr>
            <a:spLocks noGrp="1"/>
          </p:cNvSpPr>
          <p:nvPr/>
        </p:nvSpPr>
        <p:spPr>
          <a:xfrm>
            <a:off x="723900" y="3505200"/>
            <a:ext cx="10744200" cy="685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C5F13B-2DA4-4262-A8EA-CF877C12AC51}"/>
              </a:ext>
            </a:extLst>
          </p:cNvPr>
          <p:cNvSpPr>
            <a:spLocks noGrp="1"/>
          </p:cNvSpPr>
          <p:nvPr/>
        </p:nvSpPr>
        <p:spPr>
          <a:xfrm>
            <a:off x="933450" y="368617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600–799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B47111-9EB9-45EE-8BD4-8DA0FB932960}"/>
              </a:ext>
            </a:extLst>
          </p:cNvPr>
          <p:cNvSpPr>
            <a:spLocks noGrp="1"/>
          </p:cNvSpPr>
          <p:nvPr/>
        </p:nvSpPr>
        <p:spPr>
          <a:xfrm>
            <a:off x="3238500" y="36957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8928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1AB0B9-4649-48E4-A87E-5DCC0C7B860E}"/>
              </a:ext>
            </a:extLst>
          </p:cNvPr>
          <p:cNvSpPr>
            <a:spLocks noGrp="1"/>
          </p:cNvSpPr>
          <p:nvPr/>
        </p:nvSpPr>
        <p:spPr>
          <a:xfrm>
            <a:off x="5905500" y="3695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analyst queue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EF2A48-D1E5-46B1-8615-267B1A00639D}"/>
              </a:ext>
            </a:extLst>
          </p:cNvPr>
          <p:cNvSpPr>
            <a:spLocks noGrp="1"/>
          </p:cNvSpPr>
          <p:nvPr/>
        </p:nvSpPr>
        <p:spPr>
          <a:xfrm>
            <a:off x="723900" y="4381500"/>
            <a:ext cx="10744200" cy="685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0E387F-D9B4-4681-B339-81B9DAF85BE5}"/>
              </a:ext>
            </a:extLst>
          </p:cNvPr>
          <p:cNvSpPr>
            <a:spLocks noGrp="1"/>
          </p:cNvSpPr>
          <p:nvPr/>
        </p:nvSpPr>
        <p:spPr>
          <a:xfrm>
            <a:off x="933450" y="456247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800–1000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BF283F-A11B-4F67-936E-B0536C15723A}"/>
              </a:ext>
            </a:extLst>
          </p:cNvPr>
          <p:cNvSpPr>
            <a:spLocks noGrp="1"/>
          </p:cNvSpPr>
          <p:nvPr/>
        </p:nvSpPr>
        <p:spPr>
          <a:xfrm>
            <a:off x="3238500" y="45720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Decline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55606E-FE1C-4130-B359-484EDD4EECB9}"/>
              </a:ext>
            </a:extLst>
          </p:cNvPr>
          <p:cNvSpPr>
            <a:spLocks noGrp="1"/>
          </p:cNvSpPr>
          <p:nvPr/>
        </p:nvSpPr>
        <p:spPr>
          <a:xfrm>
            <a:off x="5905500" y="45720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block + alert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85AF00-C837-4EB2-A69F-661E01767AFF}"/>
              </a:ext>
            </a:extLst>
          </p:cNvPr>
          <p:cNvSpPr>
            <a:spLocks noGrp="1"/>
          </p:cNvSpPr>
          <p:nvPr/>
        </p:nvSpPr>
        <p:spPr>
          <a:xfrm>
            <a:off x="742950" y="5448300"/>
            <a:ext cx="1038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Latency objective: p99 ≤100 ms detection fan-out  |  p99 ≤200 ms end-to-end</a:t>
            </a:r>
          </a:p>
        </p:txBody>
      </p:sp>
    </p:spTree>
    <p:extLst>
      <p:ext uri="{BB962C8B-B14F-4D97-AF65-F5344CB8AC3E}">
        <p14:creationId xmlns:p14="http://schemas.microsoft.com/office/powerpoint/2010/main" val="423502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0DCB44A-F06C-4B20-84B1-B93D87BFBD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8C9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A08FC9-640F-4201-9B61-4DCA0292C072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AEGIS | RISK &amp; TECHNOLOGY 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D074AC-F46D-4119-968D-8C49C7A8816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Fallbacks and security controls contain service failures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142ED9-5CAA-437D-BEAC-F0DAE458069C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9525"/>
          </a:xfrm>
          <a:prstGeom prst="rect">
            <a:avLst/>
          </a:prstGeom>
          <a:solidFill>
            <a:srgbClr val="CCD6DE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E691DE-A20D-40BA-826C-26BC7E753613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SHIELDPAY  •  ARCHITECTURE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042281-5583-452C-9D8A-9DF34E5F29CD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EE1801-C2F9-4A14-917B-EE716EFA6EFE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Bounded timeouts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00AFD-C7B1-4158-8063-53E75CA426B3}"/>
              </a:ext>
            </a:extLst>
          </p:cNvPr>
          <p:cNvSpPr>
            <a:spLocks noGrp="1"/>
          </p:cNvSpPr>
          <p:nvPr/>
        </p:nvSpPr>
        <p:spPr>
          <a:xfrm>
            <a:off x="4095750" y="165735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Protect authorization latency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5BA0C0-8DA7-4B46-A5EA-1BB91A9B7BC1}"/>
              </a:ext>
            </a:extLst>
          </p:cNvPr>
          <p:cNvSpPr>
            <a:spLocks noGrp="1"/>
          </p:cNvSpPr>
          <p:nvPr/>
        </p:nvSpPr>
        <p:spPr>
          <a:xfrm>
            <a:off x="742950" y="252412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Circuit breakers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968AA1-FD23-421F-8E3D-6B15857B4D7D}"/>
              </a:ext>
            </a:extLst>
          </p:cNvPr>
          <p:cNvSpPr>
            <a:spLocks noGrp="1"/>
          </p:cNvSpPr>
          <p:nvPr/>
        </p:nvSpPr>
        <p:spPr>
          <a:xfrm>
            <a:off x="4095750" y="2524125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Stop repeated calls to failed dependencies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033837-466B-4E2A-8A37-3DA4366BA1C2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Bulkheads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13B962-9608-4694-A605-C7667906BB3F}"/>
              </a:ext>
            </a:extLst>
          </p:cNvPr>
          <p:cNvSpPr>
            <a:spLocks noGrp="1"/>
          </p:cNvSpPr>
          <p:nvPr/>
        </p:nvSpPr>
        <p:spPr>
          <a:xfrm>
            <a:off x="4095750" y="339090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Keep one dependency from exhausting all capacity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A65EB4-7CDD-45A1-9061-0032062C9986}"/>
              </a:ext>
            </a:extLst>
          </p:cNvPr>
          <p:cNvSpPr>
            <a:spLocks noGrp="1"/>
          </p:cNvSpPr>
          <p:nvPr/>
        </p:nvSpPr>
        <p:spPr>
          <a:xfrm>
            <a:off x="742950" y="425767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Explicit degraded mode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C2716C-72F2-4C5C-9D0F-8BE5041D0F08}"/>
              </a:ext>
            </a:extLst>
          </p:cNvPr>
          <p:cNvSpPr>
            <a:spLocks noGrp="1"/>
          </p:cNvSpPr>
          <p:nvPr/>
        </p:nvSpPr>
        <p:spPr>
          <a:xfrm>
            <a:off x="4095750" y="4257675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Record missing signals and apply channel policy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EE17F2-F1F1-407B-84B4-F468BC48DDA7}"/>
              </a:ext>
            </a:extLst>
          </p:cNvPr>
          <p:cNvSpPr>
            <a:spLocks noGrp="1"/>
          </p:cNvSpPr>
          <p:nvPr/>
        </p:nvSpPr>
        <p:spPr>
          <a:xfrm>
            <a:off x="742950" y="5257800"/>
            <a:ext cx="10477500" cy="19050"/>
          </a:xfrm>
          <a:prstGeom prst="rect">
            <a:avLst/>
          </a:prstGeom>
          <a:solidFill>
            <a:srgbClr val="CCD6DE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7E1742-55D8-4FD7-A15A-78A542A9A068}"/>
              </a:ext>
            </a:extLst>
          </p:cNvPr>
          <p:cNvSpPr>
            <a:spLocks noGrp="1"/>
          </p:cNvSpPr>
          <p:nvPr/>
        </p:nvSpPr>
        <p:spPr>
          <a:xfrm>
            <a:off x="742950" y="5524500"/>
            <a:ext cx="1047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mTLS • least privilege • PAN tokenisation • encryption • audit trail • retention controls</a:t>
            </a:r>
          </a:p>
        </p:txBody>
      </p:sp>
    </p:spTree>
    <p:extLst>
      <p:ext uri="{BB962C8B-B14F-4D97-AF65-F5344CB8AC3E}">
        <p14:creationId xmlns:p14="http://schemas.microsoft.com/office/powerpoint/2010/main" val="556653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6853518-FDB9-4846-B6D1-15B6C485A5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8C9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63AA0-F32D-408E-B835-7488A2D69AA1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AEGIS | RISK &amp; TECHNOLOGY 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7E1E5-4E60-44D1-B7CA-4E50E64E7B1F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Migration proceeds through shadow traffic and measured gates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FDB203-9B93-4656-9FC0-0A671C865C49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9525"/>
          </a:xfrm>
          <a:prstGeom prst="rect">
            <a:avLst/>
          </a:prstGeom>
          <a:solidFill>
            <a:srgbClr val="CCD6DE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E9C9C4-6BAA-4FDE-9650-BBFA4F5F4F62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SHIELDPAY  •  ARCHITECTURE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94FEBF-9FA7-4D03-810F-E44EA8F102BC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855A8D-FC72-48BC-B971-EF6096559607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514350" cy="514350"/>
          </a:xfrm>
          <a:prstGeom prst="rect">
            <a:avLst/>
          </a:prstGeom>
          <a:solidFill>
            <a:srgbClr val="12243A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54FB36-2383-48FF-96F4-C22447C847F3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258E6-9EB4-4F66-AF16-A46205758C95}"/>
              </a:ext>
            </a:extLst>
          </p:cNvPr>
          <p:cNvSpPr>
            <a:spLocks noGrp="1"/>
          </p:cNvSpPr>
          <p:nvPr/>
        </p:nvSpPr>
        <p:spPr>
          <a:xfrm>
            <a:off x="1524000" y="17145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Strangler edge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EF8F8-BFCC-4DAF-A68C-FF74B9ED81D9}"/>
              </a:ext>
            </a:extLst>
          </p:cNvPr>
          <p:cNvSpPr>
            <a:spLocks noGrp="1"/>
          </p:cNvSpPr>
          <p:nvPr/>
        </p:nvSpPr>
        <p:spPr>
          <a:xfrm>
            <a:off x="4381500" y="1714500"/>
            <a:ext cx="666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Route through an anti-corruption layer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C06E22-B020-4761-B4B9-F1C281A21E3B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514350" cy="514350"/>
          </a:xfrm>
          <a:prstGeom prst="rect">
            <a:avLst/>
          </a:prstGeom>
          <a:solidFill>
            <a:srgbClr val="12243A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A86FF3-0452-4CA0-8500-FEC63A0533D4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18DFDC-5BCC-4AEB-8441-593A316076A1}"/>
              </a:ext>
            </a:extLst>
          </p:cNvPr>
          <p:cNvSpPr>
            <a:spLocks noGrp="1"/>
          </p:cNvSpPr>
          <p:nvPr/>
        </p:nvSpPr>
        <p:spPr>
          <a:xfrm>
            <a:off x="1524000" y="2686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Shadow score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5B7B73-CDF8-423E-B5F3-CD32581B72E2}"/>
              </a:ext>
            </a:extLst>
          </p:cNvPr>
          <p:cNvSpPr>
            <a:spLocks noGrp="1"/>
          </p:cNvSpPr>
          <p:nvPr/>
        </p:nvSpPr>
        <p:spPr>
          <a:xfrm>
            <a:off x="4381500" y="2686050"/>
            <a:ext cx="666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Compare against monolith without changing outcomes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7D1B66-3B61-4AF7-99BF-78B397872461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514350" cy="514350"/>
          </a:xfrm>
          <a:prstGeom prst="rect">
            <a:avLst/>
          </a:prstGeom>
          <a:solidFill>
            <a:srgbClr val="12243A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7849A4-4DC6-4F57-BE9E-D056798A0019}"/>
              </a:ext>
            </a:extLst>
          </p:cNvPr>
          <p:cNvSpPr>
            <a:spLocks noGrp="1"/>
          </p:cNvSpPr>
          <p:nvPr/>
        </p:nvSpPr>
        <p:spPr>
          <a:xfrm>
            <a:off x="914400" y="37528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5AF3DB-47B0-4F1B-A3C5-D7C19C51C7A4}"/>
              </a:ext>
            </a:extLst>
          </p:cNvPr>
          <p:cNvSpPr>
            <a:spLocks noGrp="1"/>
          </p:cNvSpPr>
          <p:nvPr/>
        </p:nvSpPr>
        <p:spPr>
          <a:xfrm>
            <a:off x="1524000" y="36576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Limited canary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B1DA39-47CB-4653-9E7A-E97C0390F8BF}"/>
              </a:ext>
            </a:extLst>
          </p:cNvPr>
          <p:cNvSpPr>
            <a:spLocks noGrp="1"/>
          </p:cNvSpPr>
          <p:nvPr/>
        </p:nvSpPr>
        <p:spPr>
          <a:xfrm>
            <a:off x="4381500" y="3657600"/>
            <a:ext cx="666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Ramp only when latency and fraud outcomes pass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DD845C-0243-4D49-8C17-E960F95EE82B}"/>
              </a:ext>
            </a:extLst>
          </p:cNvPr>
          <p:cNvSpPr>
            <a:spLocks noGrp="1"/>
          </p:cNvSpPr>
          <p:nvPr/>
        </p:nvSpPr>
        <p:spPr>
          <a:xfrm>
            <a:off x="742950" y="4610100"/>
            <a:ext cx="514350" cy="514350"/>
          </a:xfrm>
          <a:prstGeom prst="rect">
            <a:avLst/>
          </a:prstGeom>
          <a:solidFill>
            <a:srgbClr val="12243A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FAC00C-7D89-41CB-BC44-3FCBD7C7264B}"/>
              </a:ext>
            </a:extLst>
          </p:cNvPr>
          <p:cNvSpPr>
            <a:spLocks noGrp="1"/>
          </p:cNvSpPr>
          <p:nvPr/>
        </p:nvSpPr>
        <p:spPr>
          <a:xfrm>
            <a:off x="914400" y="47244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EB300E-570C-47F9-AE8E-3BDC9E061B8D}"/>
              </a:ext>
            </a:extLst>
          </p:cNvPr>
          <p:cNvSpPr>
            <a:spLocks noGrp="1"/>
          </p:cNvSpPr>
          <p:nvPr/>
        </p:nvSpPr>
        <p:spPr>
          <a:xfrm>
            <a:off x="1524000" y="46291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Expand / rollback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75A94D-83C3-462C-9308-43DA33662C90}"/>
              </a:ext>
            </a:extLst>
          </p:cNvPr>
          <p:cNvSpPr>
            <a:spLocks noGrp="1"/>
          </p:cNvSpPr>
          <p:nvPr/>
        </p:nvSpPr>
        <p:spPr>
          <a:xfrm>
            <a:off x="4381500" y="4629150"/>
            <a:ext cx="666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Keep rollback path and on-call runbooks ready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C37FD3-A4B1-46A4-98E8-EB7AA9202A98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1047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Operational gates: p99 latency • Kafka lag • error budget • drift • fraud loss • false positives</a:t>
            </a:r>
          </a:p>
        </p:txBody>
      </p:sp>
    </p:spTree>
    <p:extLst>
      <p:ext uri="{BB962C8B-B14F-4D97-AF65-F5344CB8AC3E}">
        <p14:creationId xmlns:p14="http://schemas.microsoft.com/office/powerpoint/2010/main" val="950854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A69EE6B-E919-4F6B-B19C-23D8796E68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8C9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5FA7C5-329E-47D5-AD30-E8E502F5AECA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AEGIS | RISK &amp; TECHNOLOGY 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E92F0F-F19A-409D-98D1-315F6E9F143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Approve a bounded pilot with clear evidence gates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83CE3-057D-4251-8D77-6A7802D8B253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9525"/>
          </a:xfrm>
          <a:prstGeom prst="rect">
            <a:avLst/>
          </a:prstGeom>
          <a:solidFill>
            <a:srgbClr val="CCD6DE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A8E525-EB2E-4E6C-B702-8EE5DBD5FF41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SHIELDPAY  •  ARCHITECTURE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F66374-CB61-49CB-AAB3-2C6E3B0CEA54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12A5BB-9E95-4F27-B542-029B88CF53D9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PILOT GATES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93E2AD-7BF2-40AE-9211-272FBF76F627}"/>
              </a:ext>
            </a:extLst>
          </p:cNvPr>
          <p:cNvSpPr>
            <a:spLocks noGrp="1"/>
          </p:cNvSpPr>
          <p:nvPr/>
        </p:nvSpPr>
        <p:spPr>
          <a:xfrm>
            <a:off x="742950" y="2162175"/>
            <a:ext cx="85725" cy="85725"/>
          </a:xfrm>
          <a:prstGeom prst="rect">
            <a:avLst/>
          </a:prstGeom>
          <a:solidFill>
            <a:srgbClr val="008C95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909E89-DECE-4FCB-8704-21DB6B36BE26}"/>
              </a:ext>
            </a:extLst>
          </p:cNvPr>
          <p:cNvSpPr>
            <a:spLocks noGrp="1"/>
          </p:cNvSpPr>
          <p:nvPr/>
        </p:nvSpPr>
        <p:spPr>
          <a:xfrm>
            <a:off x="971550" y="2076450"/>
            <a:ext cx="1005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Demonstrate target p99 under representative peak load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8A98DA-5EFB-4DE7-9406-7091BDF56F51}"/>
              </a:ext>
            </a:extLst>
          </p:cNvPr>
          <p:cNvSpPr>
            <a:spLocks noGrp="1"/>
          </p:cNvSpPr>
          <p:nvPr/>
        </p:nvSpPr>
        <p:spPr>
          <a:xfrm>
            <a:off x="742950" y="2847975"/>
            <a:ext cx="85725" cy="85725"/>
          </a:xfrm>
          <a:prstGeom prst="rect">
            <a:avLst/>
          </a:prstGeom>
          <a:solidFill>
            <a:srgbClr val="008C95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50D74B-6856-47B8-82E6-969164BA981B}"/>
              </a:ext>
            </a:extLst>
          </p:cNvPr>
          <p:cNvSpPr>
            <a:spLocks noGrp="1"/>
          </p:cNvSpPr>
          <p:nvPr/>
        </p:nvSpPr>
        <p:spPr>
          <a:xfrm>
            <a:off x="971550" y="2762250"/>
            <a:ext cx="1005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Reconcile shadow decisions and investigate material disagreements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A72207-5970-4A99-A6A5-C1FB8196F301}"/>
              </a:ext>
            </a:extLst>
          </p:cNvPr>
          <p:cNvSpPr>
            <a:spLocks noGrp="1"/>
          </p:cNvSpPr>
          <p:nvPr/>
        </p:nvSpPr>
        <p:spPr>
          <a:xfrm>
            <a:off x="742950" y="3533775"/>
            <a:ext cx="85725" cy="85725"/>
          </a:xfrm>
          <a:prstGeom prst="rect">
            <a:avLst/>
          </a:prstGeom>
          <a:solidFill>
            <a:srgbClr val="008C9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064F46-1E5A-4F17-8650-711230FB9E32}"/>
              </a:ext>
            </a:extLst>
          </p:cNvPr>
          <p:cNvSpPr>
            <a:spLocks noGrp="1"/>
          </p:cNvSpPr>
          <p:nvPr/>
        </p:nvSpPr>
        <p:spPr>
          <a:xfrm>
            <a:off x="971550" y="3448050"/>
            <a:ext cx="1005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Complete security and jurisdiction-specific compliance review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41248D-3B49-4FD0-B7D6-D351E83AE968}"/>
              </a:ext>
            </a:extLst>
          </p:cNvPr>
          <p:cNvSpPr>
            <a:spLocks noGrp="1"/>
          </p:cNvSpPr>
          <p:nvPr/>
        </p:nvSpPr>
        <p:spPr>
          <a:xfrm>
            <a:off x="742950" y="4219575"/>
            <a:ext cx="85725" cy="85725"/>
          </a:xfrm>
          <a:prstGeom prst="rect">
            <a:avLst/>
          </a:prstGeom>
          <a:solidFill>
            <a:srgbClr val="008C95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1467B2-1EC5-45E9-A4EB-1AC29CEE40AE}"/>
              </a:ext>
            </a:extLst>
          </p:cNvPr>
          <p:cNvSpPr>
            <a:spLocks noGrp="1"/>
          </p:cNvSpPr>
          <p:nvPr/>
        </p:nvSpPr>
        <p:spPr>
          <a:xfrm>
            <a:off x="971550" y="4133850"/>
            <a:ext cx="1005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Prove fallback, rollback, and regional recovery in rehearsal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5511E1-65BD-4BD7-8331-26B5385616CE}"/>
              </a:ext>
            </a:extLst>
          </p:cNvPr>
          <p:cNvSpPr>
            <a:spLocks noGrp="1"/>
          </p:cNvSpPr>
          <p:nvPr/>
        </p:nvSpPr>
        <p:spPr>
          <a:xfrm>
            <a:off x="742950" y="5143500"/>
            <a:ext cx="10477500" cy="628650"/>
          </a:xfrm>
          <a:prstGeom prst="rect">
            <a:avLst/>
          </a:prstGeom>
          <a:solidFill>
            <a:srgbClr val="1224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9A18C6-A6A2-4D41-8AB0-BDD72813CA1F}"/>
              </a:ext>
            </a:extLst>
          </p:cNvPr>
          <p:cNvSpPr>
            <a:spLocks noGrp="1"/>
          </p:cNvSpPr>
          <p:nvPr/>
        </p:nvSpPr>
        <p:spPr>
          <a:xfrm>
            <a:off x="952500" y="5257800"/>
            <a:ext cx="10048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requested: authorize discovery and a controlled pilot, then return with measured evidence before traffic expansion.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7B06CD-252D-4572-80A9-0F7E15A7785B}"/>
              </a:ext>
            </a:extLst>
          </p:cNvPr>
          <p:cNvSpPr>
            <a:spLocks noGrp="1"/>
          </p:cNvSpPr>
          <p:nvPr/>
        </p:nvSpPr>
        <p:spPr>
          <a:xfrm>
            <a:off x="762000" y="59245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>
            <a:def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Cost model: ~US$83k/month order-of-magnitude; validate with measured workload and current quotes.</a:t>
            </a:r>
          </a:p>
        </p:txBody>
      </p:sp>
    </p:spTree>
    <p:extLst>
      <p:ext uri="{BB962C8B-B14F-4D97-AF65-F5344CB8AC3E}">
        <p14:creationId xmlns:p14="http://schemas.microsoft.com/office/powerpoint/2010/main" val="2860050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Office PowerPoint</Application>
  <DocSecurity>0</DocSecurity>
  <PresentationFormat>Widescreen</PresentationFormat>
  <Paragraphs>111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Dipayan Nandi</cp:lastModifiedBy>
  <cp:revision>2</cp:revision>
  <dcterms:created xsi:type="dcterms:W3CDTF">2026-10-21T09:45:52Z</dcterms:created>
  <dcterms:modified xsi:type="dcterms:W3CDTF">2026-10-25T08:32:18Z</dcterms:modified>
</cp:coreProperties>
</file>